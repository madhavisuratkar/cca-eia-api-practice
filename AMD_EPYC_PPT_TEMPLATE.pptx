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10"/>
  </p:sldMasterIdLst>
  <p:notesMasterIdLst>
    <p:notesMasterId r:id="rId12"/>
  </p:notesMasterIdLst>
  <p:handoutMasterIdLst>
    <p:handoutMasterId r:id="rId13"/>
  </p:handoutMasterIdLst>
  <p:sldIdLst>
    <p:sldId id="261" r:id="rId11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DD1C1B7-45DA-4150-9EBD-D158A2631CF2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620"/>
    <a:srgbClr val="588824"/>
    <a:srgbClr val="5F9127"/>
    <a:srgbClr val="679E2A"/>
    <a:srgbClr val="00C2DE"/>
    <a:srgbClr val="8D8C95"/>
    <a:srgbClr val="000000"/>
    <a:srgbClr val="262626"/>
    <a:srgbClr val="131313"/>
    <a:srgbClr val="242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7843" autoAdjust="0"/>
  </p:normalViewPr>
  <p:slideViewPr>
    <p:cSldViewPr snapToGrid="0">
      <p:cViewPr>
        <p:scale>
          <a:sx n="100" d="100"/>
          <a:sy n="100" d="100"/>
        </p:scale>
        <p:origin x="-918" y="-600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11-4BE6-9F37-432C255E09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05889871"/>
        <c:axId val="1605898031"/>
      </c:barChart>
      <c:catAx>
        <c:axId val="1605889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898031"/>
        <c:crosses val="autoZero"/>
        <c:auto val="1"/>
        <c:lblAlgn val="ctr"/>
        <c:lblOffset val="100"/>
        <c:noMultiLvlLbl val="0"/>
      </c:catAx>
      <c:valAx>
        <c:axId val="1605898031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889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11/3/2025 12:13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11/3/2025 12:13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3518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2A543-E983-B927-2432-B2FEF88E7AC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933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32" r:id="rId26"/>
    <p:sldLayoutId id="2147484927" r:id="rId27"/>
    <p:sldLayoutId id="2147484671" r:id="rId28"/>
    <p:sldLayoutId id="2147484585" r:id="rId29"/>
    <p:sldLayoutId id="2147484924" r:id="rId30"/>
    <p:sldLayoutId id="2147484299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hyperlink" Target="mailto:dl.epycservices@amd.com" TargetMode="External"/><Relationship Id="rId7" Type="http://schemas.openxmlformats.org/officeDocument/2006/relationships/image" Target="../media/image6.png"/><Relationship Id="rId2" Type="http://schemas.openxmlformats.org/officeDocument/2006/relationships/hyperlink" Target="+1%20(502)%20388-6228" TargetMode="External"/><Relationship Id="rId1" Type="http://schemas.openxmlformats.org/officeDocument/2006/relationships/slideLayout" Target="../slideLayouts/slideLayout19.xml"/><Relationship Id="rId6" Type="http://schemas.openxmlformats.org/officeDocument/2006/relationships/chart" Target="../charts/char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FFE5F4-8881-4CD0-007B-C37C15B472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Cloud Footprint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1CD6A-CB81-51B2-6B3D-8D65C1212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Dollar Spend Distribution (%)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1BE428-4084-91F4-9D7A-86E1740AF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1200" dirty="0"/>
              <a:t>Ready to Explore AMD Solutions? Connect with Sales through the AMD support channel. </a:t>
            </a:r>
            <a:r>
              <a:rPr lang="en-US" sz="1000" dirty="0"/>
              <a:t>Hotline number: </a:t>
            </a:r>
            <a:r>
              <a:rPr lang="en-US" sz="1000" dirty="0">
                <a:hlinkClick r:id="rId2" action="ppaction://hlinkfile"/>
              </a:rPr>
              <a:t>+1 (502) 388-6228 </a:t>
            </a:r>
            <a:r>
              <a:rPr lang="en-US" sz="1000" dirty="0"/>
              <a:t>Email: </a:t>
            </a:r>
            <a:r>
              <a:rPr lang="en-US" sz="1000" dirty="0">
                <a:hlinkClick r:id="rId3"/>
              </a:rPr>
              <a:t>dl.epycservices@amd.com</a:t>
            </a:r>
            <a:endParaRPr lang="en-US" sz="1200" b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AE439F-08AE-30F8-828C-CBFC01E28F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Business Value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5235E2-B610-15A6-8B56-E8B5F1BA91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Path to Savings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1E224FD-B4C6-A338-EF0E-B243A4FB2D3D}"/>
              </a:ext>
            </a:extLst>
          </p:cNvPr>
          <p:cNvSpPr txBox="1">
            <a:spLocks/>
          </p:cNvSpPr>
          <p:nvPr/>
        </p:nvSpPr>
        <p:spPr>
          <a:xfrm>
            <a:off x="816554" y="2140774"/>
            <a:ext cx="3017520" cy="13947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5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20" name="Graphic 19" descr="Download from cloud with solid fill">
            <a:extLst>
              <a:ext uri="{FF2B5EF4-FFF2-40B4-BE49-F238E27FC236}">
                <a16:creationId xmlns:a16="http://schemas.microsoft.com/office/drawing/2014/main" id="{146B530A-76CE-E919-FA29-0FD09189B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109" y="2045063"/>
            <a:ext cx="625764" cy="62576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3E6AAD0-87DD-2F35-1361-8718BECE5ED0}"/>
              </a:ext>
            </a:extLst>
          </p:cNvPr>
          <p:cNvSpPr txBox="1"/>
          <p:nvPr/>
        </p:nvSpPr>
        <p:spPr>
          <a:xfrm>
            <a:off x="688109" y="2045063"/>
            <a:ext cx="3265055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400" dirty="0"/>
              <a:t>              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Instance/Analysis Overview</a:t>
            </a:r>
          </a:p>
          <a:p>
            <a:pPr algn="l">
              <a:buClr>
                <a:schemeClr val="accent1"/>
              </a:buClr>
              <a:buSzPct val="60000"/>
            </a:pPr>
            <a:endParaRPr lang="en-US" sz="1400" dirty="0"/>
          </a:p>
          <a:p>
            <a:pPr algn="l">
              <a:buClr>
                <a:schemeClr val="accent1"/>
              </a:buClr>
              <a:buSzPct val="60000"/>
            </a:pPr>
            <a:endParaRPr lang="en-US" sz="1400" dirty="0"/>
          </a:p>
          <a:p>
            <a:pPr algn="l">
              <a:buClr>
                <a:schemeClr val="accent1"/>
              </a:buClr>
              <a:buSzPct val="60000"/>
            </a:pPr>
            <a:r>
              <a:rPr lang="en-US" sz="1400" dirty="0"/>
              <a:t>               </a:t>
            </a:r>
            <a:r>
              <a:rPr lang="en-US" sz="1400" i="1" dirty="0"/>
              <a:t>Instances                    Annual</a:t>
            </a:r>
          </a:p>
          <a:p>
            <a:pPr algn="l">
              <a:buClr>
                <a:schemeClr val="accent1"/>
              </a:buClr>
              <a:buSzPct val="60000"/>
            </a:pPr>
            <a:r>
              <a:rPr lang="en-US" sz="1400" i="1" dirty="0"/>
              <a:t>               analyzed                     Spend</a:t>
            </a:r>
          </a:p>
          <a:p>
            <a:pPr algn="l">
              <a:buClr>
                <a:schemeClr val="accent1"/>
              </a:buClr>
              <a:buSzPct val="60000"/>
            </a:pPr>
            <a:endParaRPr lang="en-US" sz="1400" dirty="0"/>
          </a:p>
          <a:p>
            <a:pPr algn="ctr">
              <a:buClr>
                <a:schemeClr val="accent1"/>
              </a:buClr>
              <a:buSzPct val="60000"/>
            </a:pPr>
            <a:r>
              <a:rPr lang="en-US" sz="1200" i="1" dirty="0"/>
              <a:t>Current infrastructure across </a:t>
            </a:r>
            <a:r>
              <a:rPr lang="en-US" sz="1200" b="1" i="1" dirty="0"/>
              <a:t>[&lt;3c&gt;]</a:t>
            </a:r>
            <a:r>
              <a:rPr lang="en-US" sz="1200" i="1" dirty="0"/>
              <a:t> regions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EA14CF-3A98-DC3C-1F54-CC0919ED7F19}"/>
              </a:ext>
            </a:extLst>
          </p:cNvPr>
          <p:cNvCxnSpPr/>
          <p:nvPr/>
        </p:nvCxnSpPr>
        <p:spPr>
          <a:xfrm>
            <a:off x="2272146" y="2670827"/>
            <a:ext cx="0" cy="453914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24E2DA-C7B8-E87E-95B0-7442518AC0A6}"/>
              </a:ext>
            </a:extLst>
          </p:cNvPr>
          <p:cNvSpPr txBox="1"/>
          <p:nvPr/>
        </p:nvSpPr>
        <p:spPr>
          <a:xfrm>
            <a:off x="893220" y="2794337"/>
            <a:ext cx="62576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600" dirty="0"/>
              <a:t>&lt;3a&gt;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471E6-210D-5B23-A78D-4FEC43FB230B}"/>
              </a:ext>
            </a:extLst>
          </p:cNvPr>
          <p:cNvSpPr txBox="1"/>
          <p:nvPr/>
        </p:nvSpPr>
        <p:spPr>
          <a:xfrm>
            <a:off x="2337081" y="2789905"/>
            <a:ext cx="86883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600" dirty="0"/>
              <a:t>&lt;3bF&gt;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55BA6C4B-6DD9-1BD5-2D23-CBEA5EA9A2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02592"/>
              </p:ext>
            </p:extLst>
          </p:nvPr>
        </p:nvGraphicFramePr>
        <p:xfrm>
          <a:off x="816554" y="4165717"/>
          <a:ext cx="3017520" cy="1387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C81CA8B8-5E45-0534-8638-A5AB982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7" y="101619"/>
            <a:ext cx="11018520" cy="800219"/>
          </a:xfrm>
        </p:spPr>
        <p:txBody>
          <a:bodyPr/>
          <a:lstStyle/>
          <a:p>
            <a:pPr algn="ctr"/>
            <a:r>
              <a:rPr lang="en-US" sz="2800" dirty="0">
                <a:latin typeface="Aptos Display" panose="020B0004020202020204" pitchFamily="34" charset="0"/>
              </a:rPr>
              <a:t>AMD EPYC Modernization Opportunity</a:t>
            </a:r>
            <a:br>
              <a:rPr lang="en-US" sz="2800" dirty="0">
                <a:latin typeface="Aptos Display" panose="020B0004020202020204" pitchFamily="34" charset="0"/>
              </a:rPr>
            </a:br>
            <a:r>
              <a:rPr lang="en-US" sz="2400" dirty="0">
                <a:latin typeface="Aptos Display" panose="020B0004020202020204" pitchFamily="34" charset="0"/>
              </a:rPr>
              <a:t>Cloud:</a:t>
            </a:r>
            <a:r>
              <a:rPr lang="en-US" sz="2400" b="0" dirty="0">
                <a:latin typeface="Aptos Display" panose="020B0004020202020204" pitchFamily="34" charset="0"/>
              </a:rPr>
              <a:t>cloud_provider          </a:t>
            </a:r>
            <a:r>
              <a:rPr lang="en-US" sz="2400" dirty="0" err="1">
                <a:latin typeface="Aptos Display" panose="020B0004020202020204" pitchFamily="34" charset="0"/>
              </a:rPr>
              <a:t>Date:</a:t>
            </a:r>
            <a:r>
              <a:rPr lang="en-US" sz="2400" b="0" dirty="0" err="1">
                <a:latin typeface="Aptos Display" panose="020B0004020202020204" pitchFamily="34" charset="0"/>
              </a:rPr>
              <a:t>Date_Format</a:t>
            </a:r>
            <a:r>
              <a:rPr lang="en-US" sz="2400" b="0" dirty="0">
                <a:latin typeface="Aptos Display" panose="020B0004020202020204" pitchFamily="34" charset="0"/>
              </a:rPr>
              <a:t>          </a:t>
            </a:r>
            <a:r>
              <a:rPr lang="en-US" sz="2400" dirty="0" err="1">
                <a:latin typeface="Aptos Display" panose="020B0004020202020204" pitchFamily="34" charset="0"/>
              </a:rPr>
              <a:t>Customer:customer_name</a:t>
            </a:r>
            <a:endParaRPr lang="en-US" sz="2400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FC03D70-B34F-8658-F651-57E7A5FE5F3A}"/>
              </a:ext>
            </a:extLst>
          </p:cNvPr>
          <p:cNvSpPr txBox="1">
            <a:spLocks/>
          </p:cNvSpPr>
          <p:nvPr/>
        </p:nvSpPr>
        <p:spPr>
          <a:xfrm>
            <a:off x="4587239" y="1961080"/>
            <a:ext cx="3017520" cy="33767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5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50"/>
                </a:solidFill>
              </a:rPr>
              <a:t>Savings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AA77DD-1EDE-B908-9A24-05CC6A8BE8DA}"/>
              </a:ext>
            </a:extLst>
          </p:cNvPr>
          <p:cNvSpPr/>
          <p:nvPr/>
        </p:nvSpPr>
        <p:spPr bwMode="auto">
          <a:xfrm>
            <a:off x="4852323" y="2636536"/>
            <a:ext cx="217170" cy="27012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rnd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wrap="square" lIns="0" tIns="0" rIns="0" bIns="0" rtlCol="0">
            <a:noAutofit/>
          </a:bodyPr>
          <a:lstStyle/>
          <a:p>
            <a:pPr algn="ctr" defTabSz="932742">
              <a:buClr>
                <a:schemeClr val="accent1"/>
              </a:buClr>
              <a:buSzPct val="100000"/>
            </a:pPr>
            <a:endParaRPr lang="en-US" sz="1400" b="1" dirty="0" err="1">
              <a:solidFill>
                <a:schemeClr val="tx1">
                  <a:lumMod val="8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61187-1566-FAC1-D9B0-E2087D069D1F}"/>
              </a:ext>
            </a:extLst>
          </p:cNvPr>
          <p:cNvSpPr/>
          <p:nvPr/>
        </p:nvSpPr>
        <p:spPr bwMode="auto">
          <a:xfrm>
            <a:off x="5585628" y="3553168"/>
            <a:ext cx="212499" cy="1784641"/>
          </a:xfrm>
          <a:prstGeom prst="rect">
            <a:avLst/>
          </a:prstGeom>
          <a:solidFill>
            <a:srgbClr val="4D7620"/>
          </a:solidFill>
          <a:ln w="12700" cap="rnd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wrap="square" lIns="0" tIns="0" rIns="0" bIns="0" rtlCol="0">
            <a:noAutofit/>
          </a:bodyPr>
          <a:lstStyle/>
          <a:p>
            <a:pPr algn="ctr" defTabSz="932742">
              <a:buClr>
                <a:schemeClr val="accent1"/>
              </a:buClr>
              <a:buSzPct val="100000"/>
            </a:pPr>
            <a:endParaRPr lang="en-US" sz="1400" b="1" dirty="0" err="1">
              <a:solidFill>
                <a:schemeClr val="tx1">
                  <a:lumMod val="8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7E7DE5-5CEC-5C6E-EBF8-A94493AC83B3}"/>
              </a:ext>
            </a:extLst>
          </p:cNvPr>
          <p:cNvSpPr/>
          <p:nvPr/>
        </p:nvSpPr>
        <p:spPr bwMode="auto">
          <a:xfrm>
            <a:off x="6275930" y="3863787"/>
            <a:ext cx="237030" cy="1474021"/>
          </a:xfrm>
          <a:prstGeom prst="rect">
            <a:avLst/>
          </a:prstGeom>
          <a:solidFill>
            <a:srgbClr val="588824"/>
          </a:solidFill>
          <a:ln w="12700" cap="rnd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wrap="square" lIns="0" tIns="0" rIns="0" bIns="0" rtlCol="0">
            <a:noAutofit/>
          </a:bodyPr>
          <a:lstStyle/>
          <a:p>
            <a:pPr algn="ctr" defTabSz="932742">
              <a:buClr>
                <a:schemeClr val="accent1"/>
              </a:buClr>
              <a:buSzPct val="100000"/>
            </a:pPr>
            <a:endParaRPr lang="en-US" sz="1400" b="1" dirty="0" err="1">
              <a:solidFill>
                <a:schemeClr val="tx1">
                  <a:lumMod val="8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0CEB5-B96A-F0CD-8771-A1A318930408}"/>
              </a:ext>
            </a:extLst>
          </p:cNvPr>
          <p:cNvSpPr/>
          <p:nvPr/>
        </p:nvSpPr>
        <p:spPr bwMode="auto">
          <a:xfrm>
            <a:off x="6944294" y="3898077"/>
            <a:ext cx="237030" cy="1439730"/>
          </a:xfrm>
          <a:prstGeom prst="rect">
            <a:avLst/>
          </a:prstGeom>
          <a:solidFill>
            <a:srgbClr val="679E2A"/>
          </a:solidFill>
          <a:ln w="12700" cap="rnd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wrap="square" lIns="0" tIns="0" rIns="0" bIns="0" rtlCol="0">
            <a:noAutofit/>
          </a:bodyPr>
          <a:lstStyle/>
          <a:p>
            <a:pPr algn="ctr" defTabSz="932742">
              <a:buClr>
                <a:schemeClr val="accent1"/>
              </a:buClr>
              <a:buSzPct val="100000"/>
            </a:pPr>
            <a:endParaRPr lang="en-US" sz="1400" b="1" dirty="0" err="1">
              <a:solidFill>
                <a:schemeClr val="tx1">
                  <a:lumMod val="8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472B8-BD31-1C3A-2652-BC4386EC0016}"/>
              </a:ext>
            </a:extLst>
          </p:cNvPr>
          <p:cNvSpPr txBox="1"/>
          <p:nvPr/>
        </p:nvSpPr>
        <p:spPr>
          <a:xfrm>
            <a:off x="4717530" y="5357831"/>
            <a:ext cx="292227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050" dirty="0"/>
              <a:t>Current     Hourly cost   Modernize  Modernize &amp;</a:t>
            </a:r>
          </a:p>
          <a:p>
            <a:pPr algn="l">
              <a:buClr>
                <a:schemeClr val="accent1"/>
              </a:buClr>
              <a:buSzPct val="60000"/>
            </a:pPr>
            <a:r>
              <a:rPr lang="en-US" sz="1050" dirty="0"/>
              <a:t>Spend     Optimization                      Downsize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0714D1-2CBF-50D8-0D0F-B9C62F1F47D2}"/>
              </a:ext>
            </a:extLst>
          </p:cNvPr>
          <p:cNvSpPr txBox="1"/>
          <p:nvPr/>
        </p:nvSpPr>
        <p:spPr>
          <a:xfrm>
            <a:off x="4756612" y="2464554"/>
            <a:ext cx="53305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400" dirty="0"/>
              <a:t>&lt;3b&gt;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6A2D00-7A8B-231B-4678-DBA534143C85}"/>
              </a:ext>
            </a:extLst>
          </p:cNvPr>
          <p:cNvSpPr txBox="1"/>
          <p:nvPr/>
        </p:nvSpPr>
        <p:spPr>
          <a:xfrm>
            <a:off x="5485245" y="3370343"/>
            <a:ext cx="6024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400" dirty="0"/>
              <a:t>&lt;5a&gt;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5B3AC2-FD9A-85B1-44BD-75A6209F8189}"/>
              </a:ext>
            </a:extLst>
          </p:cNvPr>
          <p:cNvSpPr txBox="1"/>
          <p:nvPr/>
        </p:nvSpPr>
        <p:spPr>
          <a:xfrm>
            <a:off x="6193987" y="3682179"/>
            <a:ext cx="6133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400" dirty="0"/>
              <a:t>&lt;5b&gt;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0E0BD6-4242-551C-E978-D8D4850AD367}"/>
              </a:ext>
            </a:extLst>
          </p:cNvPr>
          <p:cNvSpPr txBox="1"/>
          <p:nvPr/>
        </p:nvSpPr>
        <p:spPr>
          <a:xfrm>
            <a:off x="6851780" y="3726095"/>
            <a:ext cx="72378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400" dirty="0"/>
              <a:t>&lt;5c&gt;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67404EF-92C9-7462-90B4-3A95A361D9CE}"/>
              </a:ext>
            </a:extLst>
          </p:cNvPr>
          <p:cNvCxnSpPr>
            <a:cxnSpLocks/>
            <a:stCxn id="22" idx="0"/>
            <a:endCxn id="26" idx="0"/>
          </p:cNvCxnSpPr>
          <p:nvPr/>
        </p:nvCxnSpPr>
        <p:spPr>
          <a:xfrm rot="16200000" flipH="1">
            <a:off x="4951921" y="2535771"/>
            <a:ext cx="905789" cy="763354"/>
          </a:xfrm>
          <a:prstGeom prst="bentConnector3">
            <a:avLst>
              <a:gd name="adj1" fmla="val -25238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9567127-4B46-F877-2720-3CD677D8E4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09452" y="2634211"/>
            <a:ext cx="1438602" cy="679468"/>
          </a:xfrm>
          <a:prstGeom prst="bentConnector3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D927AF8-9D55-BDFE-1725-5F6FEB4BB0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46903" y="3012062"/>
            <a:ext cx="739662" cy="7045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860BEE7F-5DC7-FFB1-30B5-FACB7173CF18}"/>
              </a:ext>
            </a:extLst>
          </p:cNvPr>
          <p:cNvSpPr txBox="1">
            <a:spLocks/>
          </p:cNvSpPr>
          <p:nvPr/>
        </p:nvSpPr>
        <p:spPr>
          <a:xfrm>
            <a:off x="8355995" y="1893178"/>
            <a:ext cx="3017520" cy="1072229"/>
          </a:xfrm>
          <a:prstGeom prst="rect">
            <a:avLst/>
          </a:prstGeom>
          <a:solidFill>
            <a:srgbClr val="679E2A"/>
          </a:solidFill>
          <a:ln w="12700" cap="rnd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wrap="square" lIns="0" tIns="0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5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Modernize &amp; Downsize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Ex: ph1 </a:t>
            </a:r>
            <a:r>
              <a:rPr lang="en-US" sz="1000" dirty="0">
                <a:solidFill>
                  <a:schemeClr val="tx1">
                    <a:lumMod val="85000"/>
                  </a:schemeClr>
                </a:solidFill>
                <a:sym typeface="Wingdings" panose="05000000000000000000" pitchFamily="2" charset="2"/>
              </a:rPr>
              <a:t> ph2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>
                    <a:lumMod val="85000"/>
                  </a:schemeClr>
                </a:solidFill>
                <a:sym typeface="Wingdings" panose="05000000000000000000" pitchFamily="2" charset="2"/>
              </a:rPr>
              <a:t>&lt;8a&gt;                      &lt;8b&gt;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Saved Annually                             Perf. Uplift</a:t>
            </a:r>
            <a:endParaRPr lang="en-US" sz="1000" b="1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85000"/>
                  </a:schemeClr>
                </a:solidFill>
              </a:rPr>
              <a:t>Max savings + perf uplift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5198ED31-BA66-0313-777D-56118D5D9D2E}"/>
              </a:ext>
            </a:extLst>
          </p:cNvPr>
          <p:cNvSpPr txBox="1">
            <a:spLocks/>
          </p:cNvSpPr>
          <p:nvPr/>
        </p:nvSpPr>
        <p:spPr>
          <a:xfrm>
            <a:off x="8373021" y="3055430"/>
            <a:ext cx="3017520" cy="1072229"/>
          </a:xfrm>
          <a:prstGeom prst="rect">
            <a:avLst/>
          </a:prstGeom>
          <a:solidFill>
            <a:srgbClr val="588824"/>
          </a:solidFill>
          <a:ln w="12700" cap="rnd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wrap="square" lIns="0" tIns="0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5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Modernize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Ex: ph1 </a:t>
            </a:r>
            <a:r>
              <a:rPr lang="en-US" sz="1000" dirty="0">
                <a:solidFill>
                  <a:schemeClr val="tx1">
                    <a:lumMod val="85000"/>
                  </a:schemeClr>
                </a:solidFill>
                <a:sym typeface="Wingdings" panose="05000000000000000000" pitchFamily="2" charset="2"/>
              </a:rPr>
              <a:t> ph3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>
                    <a:lumMod val="85000"/>
                  </a:schemeClr>
                </a:solidFill>
                <a:sym typeface="Wingdings" panose="05000000000000000000" pitchFamily="2" charset="2"/>
              </a:rPr>
              <a:t>&lt;7a&gt;                      &lt;7b&gt;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Saved Annually                             Perf. Uplift</a:t>
            </a:r>
            <a:endParaRPr lang="en-US" sz="1000" b="1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>
                    <a:lumMod val="85000"/>
                  </a:schemeClr>
                </a:solidFill>
              </a:rPr>
              <a:t>Max perf + cost savings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C3C59E0F-5D6B-BA0B-E993-683A4AE48274}"/>
              </a:ext>
            </a:extLst>
          </p:cNvPr>
          <p:cNvSpPr txBox="1">
            <a:spLocks/>
          </p:cNvSpPr>
          <p:nvPr/>
        </p:nvSpPr>
        <p:spPr>
          <a:xfrm>
            <a:off x="8373021" y="4259013"/>
            <a:ext cx="3017520" cy="1072229"/>
          </a:xfrm>
          <a:prstGeom prst="rect">
            <a:avLst/>
          </a:prstGeom>
          <a:solidFill>
            <a:srgbClr val="4D7620"/>
          </a:solidFill>
          <a:ln w="12700" cap="rnd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wrap="square" lIns="0" tIns="0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5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Hourly Cost Optimization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Ex: ph1 </a:t>
            </a:r>
            <a:r>
              <a:rPr lang="en-US" sz="1000" dirty="0">
                <a:solidFill>
                  <a:schemeClr val="tx1">
                    <a:lumMod val="85000"/>
                  </a:schemeClr>
                </a:solidFill>
                <a:sym typeface="Wingdings" panose="05000000000000000000" pitchFamily="2" charset="2"/>
              </a:rPr>
              <a:t> ph4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>
                    <a:lumMod val="85000"/>
                  </a:schemeClr>
                </a:solidFill>
                <a:sym typeface="Wingdings" panose="05000000000000000000" pitchFamily="2" charset="2"/>
              </a:rPr>
              <a:t>&lt;6a&gt;                      &lt;6b&gt;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Saved Annually                             Perf. Uplift</a:t>
            </a:r>
            <a:endParaRPr lang="en-US" sz="1000" b="1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>
                    <a:lumMod val="85000"/>
                  </a:schemeClr>
                </a:solidFill>
              </a:rPr>
              <a:t>Small discount: quick, easy</a:t>
            </a:r>
          </a:p>
        </p:txBody>
      </p:sp>
      <p:pic>
        <p:nvPicPr>
          <p:cNvPr id="46" name="Graphic 45" descr="Money outline">
            <a:extLst>
              <a:ext uri="{FF2B5EF4-FFF2-40B4-BE49-F238E27FC236}">
                <a16:creationId xmlns:a16="http://schemas.microsoft.com/office/drawing/2014/main" id="{0A7E1A55-E88E-9A5A-E707-D1835C8A3C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1918" y="1806482"/>
            <a:ext cx="679468" cy="4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6548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2" id="{952D021A-6A0B-49CB-832E-9DCCDC055701}" vid="{8B090628-2708-4125-B695-55346B67B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4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7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AE8F77-448C-4B7C-8669-DC6D4241F9CE}">
  <ds:schemaRefs/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6670dda-0291-4061-b6e0-f6c0cb392c51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e4aa919a-b200-49cb-beca-4c7e0810321e"/>
    <ds:schemaRef ds:uri="http://schemas.microsoft.com/sharepoint/v3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BE3BB7DD-0C86-4747-A387-5C5D191BB970}">
  <ds:schemaRefs/>
</ds:datastoreItem>
</file>

<file path=customXml/itemProps5.xml><?xml version="1.0" encoding="utf-8"?>
<ds:datastoreItem xmlns:ds="http://schemas.openxmlformats.org/officeDocument/2006/customXml" ds:itemID="{C5DD1971-334A-45E9-9D2B-FB6BD8AAE58A}">
  <ds:schemaRefs/>
</ds:datastoreItem>
</file>

<file path=customXml/itemProps6.xml><?xml version="1.0" encoding="utf-8"?>
<ds:datastoreItem xmlns:ds="http://schemas.openxmlformats.org/officeDocument/2006/customXml" ds:itemID="{6291F803-2EF0-4E47-96D6-4796950CE6BD}">
  <ds:schemaRefs/>
</ds:datastoreItem>
</file>

<file path=customXml/itemProps7.xml><?xml version="1.0" encoding="utf-8"?>
<ds:datastoreItem xmlns:ds="http://schemas.openxmlformats.org/officeDocument/2006/customXml" ds:itemID="{43BC5722-1D5B-4915-8247-E6D5F513E549}">
  <ds:schemaRefs/>
</ds:datastoreItem>
</file>

<file path=customXml/itemProps8.xml><?xml version="1.0" encoding="utf-8"?>
<ds:datastoreItem xmlns:ds="http://schemas.openxmlformats.org/officeDocument/2006/customXml" ds:itemID="{3D719615-E8C3-42D3-B19D-076A1FC4620D}">
  <ds:schemaRefs/>
</ds:datastoreItem>
</file>

<file path=customXml/itemProps9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201</TotalTime>
  <Words>182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 Display</vt:lpstr>
      <vt:lpstr>Arial</vt:lpstr>
      <vt:lpstr>Calibri</vt:lpstr>
      <vt:lpstr>Consolas</vt:lpstr>
      <vt:lpstr>Segoe UI</vt:lpstr>
      <vt:lpstr>Wingdings</vt:lpstr>
      <vt:lpstr>AMD Corporate Template_Dark</vt:lpstr>
      <vt:lpstr>AMD EPYC Modernization Opportunity Cloud:cloud_provider          Date:Date_Format          Customer:customer_name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AMD Corporate Powerpoint Template</dc:subject>
  <dc:creator>DhanaSekar, RajVignesh (Raj Vignesh)</dc:creator>
  <cp:keywords>AMD Corporate Powerpoint Template</cp:keywords>
  <dc:description/>
  <cp:lastModifiedBy>Sai Kumar, Padige</cp:lastModifiedBy>
  <cp:revision>37</cp:revision>
  <cp:lastPrinted>2020-04-30T18:59:47Z</cp:lastPrinted>
  <dcterms:created xsi:type="dcterms:W3CDTF">2025-06-02T21:01:51Z</dcterms:created>
  <dcterms:modified xsi:type="dcterms:W3CDTF">2025-11-03T06:43:31Z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MSIP_Label_64e4cbe8-b4f6-45dc-bcba-6123dfd2d8bf_Enabled">
    <vt:lpwstr>true</vt:lpwstr>
  </property>
  <property fmtid="{D5CDD505-2E9C-101B-9397-08002B2CF9AE}" pid="7" name="MSIP_Label_64e4cbe8-b4f6-45dc-bcba-6123dfd2d8bf_SetDate">
    <vt:lpwstr>2024-02-15T15:59:13Z</vt:lpwstr>
  </property>
  <property fmtid="{D5CDD505-2E9C-101B-9397-08002B2CF9AE}" pid="8" name="MSIP_Label_64e4cbe8-b4f6-45dc-bcba-6123dfd2d8bf_Method">
    <vt:lpwstr>Privileged</vt:lpwstr>
  </property>
  <property fmtid="{D5CDD505-2E9C-101B-9397-08002B2CF9AE}" pid="9" name="MSIP_Label_64e4cbe8-b4f6-45dc-bcba-6123dfd2d8bf_Name">
    <vt:lpwstr>Non-Business-AIP 2.0</vt:lpwstr>
  </property>
  <property fmtid="{D5CDD505-2E9C-101B-9397-08002B2CF9AE}" pid="10" name="MSIP_Label_64e4cbe8-b4f6-45dc-bcba-6123dfd2d8bf_SiteId">
    <vt:lpwstr>3dd8961f-e488-4e60-8e11-a82d994e183d</vt:lpwstr>
  </property>
  <property fmtid="{D5CDD505-2E9C-101B-9397-08002B2CF9AE}" pid="11" name="MSIP_Label_64e4cbe8-b4f6-45dc-bcba-6123dfd2d8bf_ActionId">
    <vt:lpwstr>c382c031-d868-43ef-a7b1-f4e852747774</vt:lpwstr>
  </property>
  <property fmtid="{D5CDD505-2E9C-101B-9397-08002B2CF9AE}" pid="12" name="MSIP_Label_64e4cbe8-b4f6-45dc-bcba-6123dfd2d8bf_ContentBits">
    <vt:lpwstr>0</vt:lpwstr>
  </property>
  <property fmtid="{D5CDD505-2E9C-101B-9397-08002B2CF9AE}" pid="13" name="ClassificationContentMarkingHeaderLocations">
    <vt:lpwstr>AMD Corporate Template_Dark:6</vt:lpwstr>
  </property>
  <property fmtid="{D5CDD505-2E9C-101B-9397-08002B2CF9AE}" pid="14" name="ClassificationContentMarkingHeaderText">
    <vt:lpwstr>[AMD Official Use Only - AMD Internal Distribution Only]</vt:lpwstr>
  </property>
</Properties>
</file>