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144"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6770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will discuss the AMD EPYC modernization opportunity and its impact on cost and sustainability.
Modernizing the infrastructure can reduce annual spending significantly, from $2.5M to $1.2M, achieving 50% savings, or to $1.96M for 30% savings.
The analysis shows that this modernization can also lead to a reduction in power consumption by 30% and a decrease in carbon emissions by 24%.
We will explore the current cloud footprint, dollar spend distribution, and the potential business value of these changes.
Lastly, we will look at the path to savings and performance uplift for different instance types.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F99672-518A-986C-B678-C65C3F83BC56}"/>
              </a:ext>
            </a:extLst>
          </p:cNvPr>
          <p:cNvSpPr txBox="1"/>
          <p:nvPr userDrawn="1">
            <p:extLst>
              <p:ext uri="{1162E1C5-73C7-4A58-AE30-91384D911F3F}">
                <p184:classification xmlns:p184="http://schemas.microsoft.com/office/powerpoint/2018/4/main" val="hdr"/>
              </p:ext>
            </p:extLst>
          </p:nvPr>
        </p:nvSpPr>
        <p:spPr>
          <a:xfrm>
            <a:off x="63500" y="63500"/>
            <a:ext cx="447675"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[Public]</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0963" y="952500"/>
            <a:ext cx="2924175" cy="1905000"/>
          </a:xfrm>
          <a:prstGeom prst="rect">
            <a:avLst/>
          </a:prstGeom>
          <a:solidFill>
            <a:srgbClr val="252525"/>
          </a:solidFill>
          <a:ln/>
        </p:spPr>
        <p:txBody>
          <a:bodyPr/>
          <a:lstStyle/>
          <a:p>
            <a:endParaRPr lang="en-US"/>
          </a:p>
        </p:txBody>
      </p:sp>
      <p:sp>
        <p:nvSpPr>
          <p:cNvPr id="4" name="Shape 1"/>
          <p:cNvSpPr/>
          <p:nvPr/>
        </p:nvSpPr>
        <p:spPr>
          <a:xfrm>
            <a:off x="80963" y="952500"/>
            <a:ext cx="2924175" cy="280988"/>
          </a:xfrm>
          <a:prstGeom prst="rect">
            <a:avLst/>
          </a:prstGeom>
          <a:solidFill>
            <a:srgbClr val="2B2D2E"/>
          </a:solidFill>
          <a:ln w="12700">
            <a:solidFill>
              <a:srgbClr val="393939"/>
            </a:solidFill>
            <a:prstDash val="solid"/>
          </a:ln>
        </p:spPr>
        <p:txBody>
          <a:bodyPr/>
          <a:lstStyle/>
          <a:p>
            <a:endParaRPr lang="en-US"/>
          </a:p>
        </p:txBody>
      </p:sp>
      <p:sp>
        <p:nvSpPr>
          <p:cNvPr id="5" name="Shape 2"/>
          <p:cNvSpPr/>
          <p:nvPr/>
        </p:nvSpPr>
        <p:spPr>
          <a:xfrm>
            <a:off x="3100388" y="2957513"/>
            <a:ext cx="5943600" cy="1952625"/>
          </a:xfrm>
          <a:prstGeom prst="rect">
            <a:avLst/>
          </a:prstGeom>
          <a:solidFill>
            <a:srgbClr val="252525"/>
          </a:solidFill>
          <a:ln/>
        </p:spPr>
        <p:txBody>
          <a:bodyPr/>
          <a:lstStyle/>
          <a:p>
            <a:endParaRPr lang="en-US"/>
          </a:p>
        </p:txBody>
      </p:sp>
      <p:sp>
        <p:nvSpPr>
          <p:cNvPr id="6" name="Shape 3"/>
          <p:cNvSpPr/>
          <p:nvPr/>
        </p:nvSpPr>
        <p:spPr>
          <a:xfrm rot="5400000">
            <a:off x="3336131" y="3807619"/>
            <a:ext cx="1033462" cy="0"/>
          </a:xfrm>
          <a:prstGeom prst="line">
            <a:avLst/>
          </a:prstGeom>
          <a:noFill/>
          <a:ln w="12700">
            <a:solidFill>
              <a:srgbClr val="393939"/>
            </a:solidFill>
            <a:prstDash val="dash"/>
          </a:ln>
        </p:spPr>
        <p:txBody>
          <a:bodyPr/>
          <a:lstStyle/>
          <a:p>
            <a:endParaRPr lang="en-US"/>
          </a:p>
        </p:txBody>
      </p:sp>
      <p:sp>
        <p:nvSpPr>
          <p:cNvPr id="7" name="Shape 4"/>
          <p:cNvSpPr/>
          <p:nvPr/>
        </p:nvSpPr>
        <p:spPr>
          <a:xfrm rot="5400000">
            <a:off x="2931319" y="3807619"/>
            <a:ext cx="1033462" cy="0"/>
          </a:xfrm>
          <a:prstGeom prst="line">
            <a:avLst/>
          </a:prstGeom>
          <a:noFill/>
          <a:ln w="12700">
            <a:solidFill>
              <a:srgbClr val="575757"/>
            </a:solidFill>
            <a:prstDash val="solid"/>
          </a:ln>
        </p:spPr>
        <p:txBody>
          <a:bodyPr/>
          <a:lstStyle/>
          <a:p>
            <a:endParaRPr lang="en-US"/>
          </a:p>
        </p:txBody>
      </p:sp>
      <p:sp>
        <p:nvSpPr>
          <p:cNvPr id="8" name="Shape 5"/>
          <p:cNvSpPr/>
          <p:nvPr/>
        </p:nvSpPr>
        <p:spPr>
          <a:xfrm rot="5400000">
            <a:off x="3740944" y="3807619"/>
            <a:ext cx="1033462" cy="0"/>
          </a:xfrm>
          <a:prstGeom prst="line">
            <a:avLst/>
          </a:prstGeom>
          <a:noFill/>
          <a:ln w="12700">
            <a:solidFill>
              <a:srgbClr val="393939"/>
            </a:solidFill>
            <a:prstDash val="dash"/>
          </a:ln>
        </p:spPr>
        <p:txBody>
          <a:bodyPr/>
          <a:lstStyle/>
          <a:p>
            <a:endParaRPr lang="en-US"/>
          </a:p>
        </p:txBody>
      </p:sp>
      <p:sp>
        <p:nvSpPr>
          <p:cNvPr id="9" name="Shape 6"/>
          <p:cNvSpPr/>
          <p:nvPr/>
        </p:nvSpPr>
        <p:spPr>
          <a:xfrm rot="5400000">
            <a:off x="4145756" y="3807619"/>
            <a:ext cx="1033462" cy="0"/>
          </a:xfrm>
          <a:prstGeom prst="line">
            <a:avLst/>
          </a:prstGeom>
          <a:noFill/>
          <a:ln w="12700">
            <a:solidFill>
              <a:srgbClr val="393939"/>
            </a:solidFill>
            <a:prstDash val="dash"/>
          </a:ln>
        </p:spPr>
        <p:txBody>
          <a:bodyPr/>
          <a:lstStyle/>
          <a:p>
            <a:endParaRPr lang="en-US"/>
          </a:p>
        </p:txBody>
      </p:sp>
      <p:sp>
        <p:nvSpPr>
          <p:cNvPr id="10" name="Shape 7"/>
          <p:cNvSpPr/>
          <p:nvPr/>
        </p:nvSpPr>
        <p:spPr>
          <a:xfrm rot="5400000">
            <a:off x="4550569" y="3807619"/>
            <a:ext cx="1033462" cy="0"/>
          </a:xfrm>
          <a:prstGeom prst="line">
            <a:avLst/>
          </a:prstGeom>
          <a:noFill/>
          <a:ln w="12700">
            <a:solidFill>
              <a:srgbClr val="393939"/>
            </a:solidFill>
            <a:prstDash val="dash"/>
          </a:ln>
        </p:spPr>
        <p:txBody>
          <a:bodyPr/>
          <a:lstStyle/>
          <a:p>
            <a:endParaRPr lang="en-US"/>
          </a:p>
        </p:txBody>
      </p:sp>
      <p:sp>
        <p:nvSpPr>
          <p:cNvPr id="11" name="Shape 8"/>
          <p:cNvSpPr/>
          <p:nvPr/>
        </p:nvSpPr>
        <p:spPr>
          <a:xfrm rot="5400000">
            <a:off x="5417344" y="3807619"/>
            <a:ext cx="1033462" cy="0"/>
          </a:xfrm>
          <a:prstGeom prst="line">
            <a:avLst/>
          </a:prstGeom>
          <a:noFill/>
          <a:ln w="12700">
            <a:solidFill>
              <a:srgbClr val="393939"/>
            </a:solidFill>
            <a:prstDash val="dash"/>
          </a:ln>
        </p:spPr>
        <p:txBody>
          <a:bodyPr/>
          <a:lstStyle/>
          <a:p>
            <a:endParaRPr lang="en-US"/>
          </a:p>
        </p:txBody>
      </p:sp>
      <p:sp>
        <p:nvSpPr>
          <p:cNvPr id="12" name="Shape 9"/>
          <p:cNvSpPr/>
          <p:nvPr/>
        </p:nvSpPr>
        <p:spPr>
          <a:xfrm rot="5400000">
            <a:off x="5093494" y="3807619"/>
            <a:ext cx="1033462" cy="0"/>
          </a:xfrm>
          <a:prstGeom prst="line">
            <a:avLst/>
          </a:prstGeom>
          <a:noFill/>
          <a:ln w="12700">
            <a:solidFill>
              <a:srgbClr val="575757"/>
            </a:solidFill>
            <a:prstDash val="solid"/>
          </a:ln>
        </p:spPr>
        <p:txBody>
          <a:bodyPr/>
          <a:lstStyle/>
          <a:p>
            <a:endParaRPr lang="en-US"/>
          </a:p>
        </p:txBody>
      </p:sp>
      <p:sp>
        <p:nvSpPr>
          <p:cNvPr id="13" name="Shape 10"/>
          <p:cNvSpPr/>
          <p:nvPr/>
        </p:nvSpPr>
        <p:spPr>
          <a:xfrm rot="5400000">
            <a:off x="5741194" y="3807619"/>
            <a:ext cx="1033462" cy="0"/>
          </a:xfrm>
          <a:prstGeom prst="line">
            <a:avLst/>
          </a:prstGeom>
          <a:noFill/>
          <a:ln w="12700">
            <a:solidFill>
              <a:srgbClr val="393939"/>
            </a:solidFill>
            <a:prstDash val="dash"/>
          </a:ln>
        </p:spPr>
        <p:txBody>
          <a:bodyPr/>
          <a:lstStyle/>
          <a:p>
            <a:endParaRPr lang="en-US"/>
          </a:p>
        </p:txBody>
      </p:sp>
      <p:sp>
        <p:nvSpPr>
          <p:cNvPr id="14" name="Shape 11"/>
          <p:cNvSpPr/>
          <p:nvPr/>
        </p:nvSpPr>
        <p:spPr>
          <a:xfrm rot="5400000">
            <a:off x="6065044" y="3807619"/>
            <a:ext cx="1033462" cy="0"/>
          </a:xfrm>
          <a:prstGeom prst="line">
            <a:avLst/>
          </a:prstGeom>
          <a:noFill/>
          <a:ln w="12700">
            <a:solidFill>
              <a:srgbClr val="393939"/>
            </a:solidFill>
            <a:prstDash val="dash"/>
          </a:ln>
        </p:spPr>
        <p:txBody>
          <a:bodyPr/>
          <a:lstStyle/>
          <a:p>
            <a:endParaRPr lang="en-US"/>
          </a:p>
        </p:txBody>
      </p:sp>
      <p:sp>
        <p:nvSpPr>
          <p:cNvPr id="15" name="Shape 12"/>
          <p:cNvSpPr/>
          <p:nvPr/>
        </p:nvSpPr>
        <p:spPr>
          <a:xfrm rot="5400000">
            <a:off x="6388894" y="3807619"/>
            <a:ext cx="1033462" cy="0"/>
          </a:xfrm>
          <a:prstGeom prst="line">
            <a:avLst/>
          </a:prstGeom>
          <a:noFill/>
          <a:ln w="12700">
            <a:solidFill>
              <a:srgbClr val="393939"/>
            </a:solidFill>
            <a:prstDash val="dash"/>
          </a:ln>
        </p:spPr>
        <p:txBody>
          <a:bodyPr/>
          <a:lstStyle/>
          <a:p>
            <a:endParaRPr lang="en-US"/>
          </a:p>
        </p:txBody>
      </p:sp>
      <p:sp>
        <p:nvSpPr>
          <p:cNvPr id="16" name="Shape 13"/>
          <p:cNvSpPr/>
          <p:nvPr/>
        </p:nvSpPr>
        <p:spPr>
          <a:xfrm rot="5400000">
            <a:off x="6712744" y="3807619"/>
            <a:ext cx="1033462" cy="0"/>
          </a:xfrm>
          <a:prstGeom prst="line">
            <a:avLst/>
          </a:prstGeom>
          <a:noFill/>
          <a:ln w="12700">
            <a:solidFill>
              <a:srgbClr val="393939"/>
            </a:solidFill>
            <a:prstDash val="dash"/>
          </a:ln>
        </p:spPr>
        <p:txBody>
          <a:bodyPr/>
          <a:lstStyle/>
          <a:p>
            <a:endParaRPr lang="en-US"/>
          </a:p>
        </p:txBody>
      </p:sp>
      <p:sp>
        <p:nvSpPr>
          <p:cNvPr id="17" name="Shape 14"/>
          <p:cNvSpPr/>
          <p:nvPr/>
        </p:nvSpPr>
        <p:spPr>
          <a:xfrm>
            <a:off x="3100388" y="2957513"/>
            <a:ext cx="5943600" cy="280988"/>
          </a:xfrm>
          <a:prstGeom prst="rect">
            <a:avLst/>
          </a:prstGeom>
          <a:solidFill>
            <a:srgbClr val="2B2D2E"/>
          </a:solidFill>
          <a:ln w="12700">
            <a:solidFill>
              <a:srgbClr val="393939"/>
            </a:solidFill>
            <a:prstDash val="solid"/>
          </a:ln>
        </p:spPr>
        <p:txBody>
          <a:bodyPr/>
          <a:lstStyle/>
          <a:p>
            <a:endParaRPr lang="en-US"/>
          </a:p>
        </p:txBody>
      </p:sp>
      <p:sp>
        <p:nvSpPr>
          <p:cNvPr id="18" name="Shape 15"/>
          <p:cNvSpPr/>
          <p:nvPr/>
        </p:nvSpPr>
        <p:spPr>
          <a:xfrm rot="5400000">
            <a:off x="4552950" y="3990975"/>
            <a:ext cx="1438275" cy="0"/>
          </a:xfrm>
          <a:prstGeom prst="line">
            <a:avLst/>
          </a:prstGeom>
          <a:noFill/>
          <a:ln w="12700">
            <a:solidFill>
              <a:srgbClr val="575757"/>
            </a:solidFill>
            <a:prstDash val="solid"/>
          </a:ln>
        </p:spPr>
        <p:txBody>
          <a:bodyPr/>
          <a:lstStyle/>
          <a:p>
            <a:endParaRPr lang="en-US"/>
          </a:p>
        </p:txBody>
      </p:sp>
      <p:sp>
        <p:nvSpPr>
          <p:cNvPr id="19" name="Shape 16"/>
          <p:cNvSpPr/>
          <p:nvPr/>
        </p:nvSpPr>
        <p:spPr>
          <a:xfrm>
            <a:off x="5538788" y="4600575"/>
            <a:ext cx="1785938" cy="166688"/>
          </a:xfrm>
          <a:prstGeom prst="rect">
            <a:avLst/>
          </a:prstGeom>
          <a:solidFill>
            <a:srgbClr val="2B2D2E"/>
          </a:solidFill>
          <a:ln w="12431">
            <a:solidFill>
              <a:srgbClr val="393939"/>
            </a:solidFill>
            <a:prstDash val="solid"/>
          </a:ln>
        </p:spPr>
        <p:txBody>
          <a:bodyPr/>
          <a:lstStyle/>
          <a:p>
            <a:endParaRPr lang="en-US"/>
          </a:p>
        </p:txBody>
      </p:sp>
      <p:sp>
        <p:nvSpPr>
          <p:cNvPr id="20" name="Shape 17"/>
          <p:cNvSpPr/>
          <p:nvPr/>
        </p:nvSpPr>
        <p:spPr>
          <a:xfrm>
            <a:off x="5591175" y="4624388"/>
            <a:ext cx="1658938" cy="114300"/>
          </a:xfrm>
          <a:prstGeom prst="rect">
            <a:avLst/>
          </a:prstGeom>
          <a:noFill/>
          <a:ln/>
        </p:spPr>
        <p:txBody>
          <a:bodyPr/>
          <a:lstStyle/>
          <a:p>
            <a:endParaRPr lang="en-US"/>
          </a:p>
        </p:txBody>
      </p:sp>
      <p:sp>
        <p:nvSpPr>
          <p:cNvPr id="21" name="Shape 18"/>
          <p:cNvSpPr/>
          <p:nvPr/>
        </p:nvSpPr>
        <p:spPr>
          <a:xfrm>
            <a:off x="3386138" y="4600575"/>
            <a:ext cx="1785938" cy="166688"/>
          </a:xfrm>
          <a:prstGeom prst="rect">
            <a:avLst/>
          </a:prstGeom>
          <a:solidFill>
            <a:srgbClr val="2B2D2E"/>
          </a:solidFill>
          <a:ln w="12431">
            <a:solidFill>
              <a:srgbClr val="393939"/>
            </a:solidFill>
            <a:prstDash val="solid"/>
          </a:ln>
        </p:spPr>
        <p:txBody>
          <a:bodyPr/>
          <a:lstStyle/>
          <a:p>
            <a:endParaRPr lang="en-US"/>
          </a:p>
        </p:txBody>
      </p:sp>
      <p:sp>
        <p:nvSpPr>
          <p:cNvPr id="22" name="Shape 19"/>
          <p:cNvSpPr/>
          <p:nvPr/>
        </p:nvSpPr>
        <p:spPr>
          <a:xfrm>
            <a:off x="3438525" y="4624388"/>
            <a:ext cx="1658938" cy="114300"/>
          </a:xfrm>
          <a:prstGeom prst="rect">
            <a:avLst/>
          </a:prstGeom>
          <a:noFill/>
          <a:ln/>
        </p:spPr>
        <p:txBody>
          <a:bodyPr/>
          <a:lstStyle/>
          <a:p>
            <a:endParaRPr lang="en-US"/>
          </a:p>
        </p:txBody>
      </p:sp>
      <p:sp>
        <p:nvSpPr>
          <p:cNvPr id="23" name="Shape 20"/>
          <p:cNvSpPr/>
          <p:nvPr/>
        </p:nvSpPr>
        <p:spPr>
          <a:xfrm>
            <a:off x="80963" y="538163"/>
            <a:ext cx="8963025" cy="342900"/>
          </a:xfrm>
          <a:prstGeom prst="roundRect">
            <a:avLst/>
          </a:prstGeom>
          <a:solidFill>
            <a:srgbClr val="252525"/>
          </a:solidFill>
          <a:ln/>
        </p:spPr>
        <p:txBody>
          <a:bodyPr/>
          <a:lstStyle/>
          <a:p>
            <a:endParaRPr lang="en-US"/>
          </a:p>
        </p:txBody>
      </p:sp>
      <p:sp>
        <p:nvSpPr>
          <p:cNvPr id="24" name="Shape 21"/>
          <p:cNvSpPr/>
          <p:nvPr/>
        </p:nvSpPr>
        <p:spPr>
          <a:xfrm>
            <a:off x="7445714" y="4097626"/>
            <a:ext cx="1496334" cy="745836"/>
          </a:xfrm>
          <a:prstGeom prst="rect">
            <a:avLst/>
          </a:prstGeom>
          <a:solidFill>
            <a:srgbClr val="2B2D2E"/>
          </a:solidFill>
          <a:ln w="12431">
            <a:solidFill>
              <a:srgbClr val="393939"/>
            </a:solidFill>
            <a:prstDash val="solid"/>
          </a:ln>
        </p:spPr>
        <p:txBody>
          <a:bodyPr/>
          <a:lstStyle/>
          <a:p>
            <a:endParaRPr lang="en-US"/>
          </a:p>
        </p:txBody>
      </p:sp>
      <p:sp>
        <p:nvSpPr>
          <p:cNvPr id="25" name="Shape 22"/>
          <p:cNvSpPr/>
          <p:nvPr/>
        </p:nvSpPr>
        <p:spPr>
          <a:xfrm>
            <a:off x="7445714" y="3305175"/>
            <a:ext cx="1496334" cy="745836"/>
          </a:xfrm>
          <a:prstGeom prst="rect">
            <a:avLst/>
          </a:prstGeom>
          <a:solidFill>
            <a:srgbClr val="2B2D2E"/>
          </a:solidFill>
          <a:ln w="12431">
            <a:solidFill>
              <a:srgbClr val="393939"/>
            </a:solidFill>
            <a:prstDash val="solid"/>
          </a:ln>
        </p:spPr>
        <p:txBody>
          <a:bodyPr/>
          <a:lstStyle/>
          <a:p>
            <a:endParaRPr lang="en-US"/>
          </a:p>
        </p:txBody>
      </p:sp>
      <p:sp>
        <p:nvSpPr>
          <p:cNvPr id="26" name="Shape 23"/>
          <p:cNvSpPr/>
          <p:nvPr/>
        </p:nvSpPr>
        <p:spPr>
          <a:xfrm>
            <a:off x="5619750" y="4057650"/>
            <a:ext cx="47625" cy="190500"/>
          </a:xfrm>
          <a:prstGeom prst="rect">
            <a:avLst/>
          </a:prstGeom>
          <a:solidFill>
            <a:srgbClr val="90EE90"/>
          </a:solidFill>
          <a:ln/>
        </p:spPr>
        <p:txBody>
          <a:bodyPr/>
          <a:lstStyle/>
          <a:p>
            <a:endParaRPr lang="en-US"/>
          </a:p>
        </p:txBody>
      </p:sp>
      <p:sp>
        <p:nvSpPr>
          <p:cNvPr id="27" name="Shape 24"/>
          <p:cNvSpPr/>
          <p:nvPr/>
        </p:nvSpPr>
        <p:spPr>
          <a:xfrm>
            <a:off x="5619750" y="3343275"/>
            <a:ext cx="1447800" cy="190500"/>
          </a:xfrm>
          <a:prstGeom prst="rect">
            <a:avLst/>
          </a:prstGeom>
          <a:solidFill>
            <a:srgbClr val="8B0000"/>
          </a:solidFill>
          <a:ln/>
        </p:spPr>
        <p:txBody>
          <a:bodyPr/>
          <a:lstStyle/>
          <a:p>
            <a:endParaRPr lang="en-US"/>
          </a:p>
        </p:txBody>
      </p:sp>
      <p:sp>
        <p:nvSpPr>
          <p:cNvPr id="28" name="Shape 25"/>
          <p:cNvSpPr/>
          <p:nvPr/>
        </p:nvSpPr>
        <p:spPr>
          <a:xfrm>
            <a:off x="5619750" y="3700463"/>
            <a:ext cx="95250" cy="190500"/>
          </a:xfrm>
          <a:prstGeom prst="rect">
            <a:avLst/>
          </a:prstGeom>
          <a:solidFill>
            <a:srgbClr val="90EE90"/>
          </a:solidFill>
          <a:ln/>
        </p:spPr>
        <p:txBody>
          <a:bodyPr/>
          <a:lstStyle/>
          <a:p>
            <a:endParaRPr lang="en-US"/>
          </a:p>
        </p:txBody>
      </p:sp>
      <p:sp>
        <p:nvSpPr>
          <p:cNvPr id="29" name="Shape 26"/>
          <p:cNvSpPr/>
          <p:nvPr/>
        </p:nvSpPr>
        <p:spPr>
          <a:xfrm>
            <a:off x="3457575" y="4057650"/>
            <a:ext cx="61912" cy="190500"/>
          </a:xfrm>
          <a:prstGeom prst="rect">
            <a:avLst/>
          </a:prstGeom>
          <a:solidFill>
            <a:srgbClr val="FFA250"/>
          </a:solidFill>
          <a:ln/>
        </p:spPr>
        <p:txBody>
          <a:bodyPr/>
          <a:lstStyle/>
          <a:p>
            <a:endParaRPr lang="en-US"/>
          </a:p>
        </p:txBody>
      </p:sp>
      <p:sp>
        <p:nvSpPr>
          <p:cNvPr id="30" name="Shape 27"/>
          <p:cNvSpPr/>
          <p:nvPr/>
        </p:nvSpPr>
        <p:spPr>
          <a:xfrm>
            <a:off x="3457575" y="3343275"/>
            <a:ext cx="1390650" cy="190500"/>
          </a:xfrm>
          <a:prstGeom prst="rect">
            <a:avLst/>
          </a:prstGeom>
          <a:solidFill>
            <a:srgbClr val="8B0000"/>
          </a:solidFill>
          <a:ln/>
        </p:spPr>
        <p:txBody>
          <a:bodyPr/>
          <a:lstStyle/>
          <a:p>
            <a:endParaRPr lang="en-US"/>
          </a:p>
        </p:txBody>
      </p:sp>
      <p:sp>
        <p:nvSpPr>
          <p:cNvPr id="31" name="Shape 28"/>
          <p:cNvSpPr/>
          <p:nvPr/>
        </p:nvSpPr>
        <p:spPr>
          <a:xfrm>
            <a:off x="3457575" y="3700463"/>
            <a:ext cx="104775" cy="190500"/>
          </a:xfrm>
          <a:prstGeom prst="rect">
            <a:avLst/>
          </a:prstGeom>
          <a:solidFill>
            <a:srgbClr val="FFA250"/>
          </a:solidFill>
          <a:ln/>
        </p:spPr>
        <p:txBody>
          <a:bodyPr/>
          <a:lstStyle/>
          <a:p>
            <a:endParaRPr lang="en-US"/>
          </a:p>
        </p:txBody>
      </p:sp>
      <p:sp>
        <p:nvSpPr>
          <p:cNvPr id="32" name="Shape 29"/>
          <p:cNvSpPr/>
          <p:nvPr/>
        </p:nvSpPr>
        <p:spPr>
          <a:xfrm>
            <a:off x="80963" y="2957513"/>
            <a:ext cx="2924175" cy="1952625"/>
          </a:xfrm>
          <a:prstGeom prst="rect">
            <a:avLst/>
          </a:prstGeom>
          <a:solidFill>
            <a:srgbClr val="252525"/>
          </a:solidFill>
          <a:ln/>
        </p:spPr>
        <p:txBody>
          <a:bodyPr/>
          <a:lstStyle/>
          <a:p>
            <a:endParaRPr lang="en-US"/>
          </a:p>
        </p:txBody>
      </p:sp>
      <p:sp>
        <p:nvSpPr>
          <p:cNvPr id="34" name="Shape 31"/>
          <p:cNvSpPr/>
          <p:nvPr/>
        </p:nvSpPr>
        <p:spPr>
          <a:xfrm>
            <a:off x="1414463" y="4714875"/>
            <a:ext cx="476250" cy="9525"/>
          </a:xfrm>
          <a:prstGeom prst="rect">
            <a:avLst/>
          </a:prstGeom>
          <a:solidFill>
            <a:srgbClr val="08B1D0"/>
          </a:solidFill>
          <a:ln/>
        </p:spPr>
        <p:txBody>
          <a:bodyPr/>
          <a:lstStyle/>
          <a:p>
            <a:endParaRPr lang="en-US"/>
          </a:p>
        </p:txBody>
      </p:sp>
      <p:sp>
        <p:nvSpPr>
          <p:cNvPr id="35" name="Shape 32"/>
          <p:cNvSpPr/>
          <p:nvPr/>
        </p:nvSpPr>
        <p:spPr>
          <a:xfrm>
            <a:off x="2281238" y="4714875"/>
            <a:ext cx="476250" cy="9525"/>
          </a:xfrm>
          <a:prstGeom prst="rect">
            <a:avLst/>
          </a:prstGeom>
          <a:solidFill>
            <a:srgbClr val="08B1D0"/>
          </a:solidFill>
          <a:ln/>
        </p:spPr>
        <p:txBody>
          <a:bodyPr/>
          <a:lstStyle/>
          <a:p>
            <a:endParaRPr lang="en-US"/>
          </a:p>
        </p:txBody>
      </p:sp>
      <p:sp>
        <p:nvSpPr>
          <p:cNvPr id="36" name="Shape 33"/>
          <p:cNvSpPr/>
          <p:nvPr/>
        </p:nvSpPr>
        <p:spPr>
          <a:xfrm>
            <a:off x="80963" y="2957513"/>
            <a:ext cx="2924175" cy="280988"/>
          </a:xfrm>
          <a:prstGeom prst="rect">
            <a:avLst/>
          </a:prstGeom>
          <a:solidFill>
            <a:srgbClr val="2B2D2E"/>
          </a:solidFill>
          <a:ln w="12700">
            <a:solidFill>
              <a:srgbClr val="393939"/>
            </a:solidFill>
            <a:prstDash val="solid"/>
          </a:ln>
        </p:spPr>
        <p:txBody>
          <a:bodyPr/>
          <a:lstStyle/>
          <a:p>
            <a:endParaRPr lang="en-US"/>
          </a:p>
        </p:txBody>
      </p:sp>
      <p:sp>
        <p:nvSpPr>
          <p:cNvPr id="37" name="Shape 34"/>
          <p:cNvSpPr/>
          <p:nvPr/>
        </p:nvSpPr>
        <p:spPr>
          <a:xfrm>
            <a:off x="414338" y="4724400"/>
            <a:ext cx="2476500" cy="0"/>
          </a:xfrm>
          <a:prstGeom prst="line">
            <a:avLst/>
          </a:prstGeom>
          <a:noFill/>
          <a:ln w="12700">
            <a:solidFill>
              <a:srgbClr val="575757"/>
            </a:solidFill>
            <a:prstDash val="solid"/>
          </a:ln>
        </p:spPr>
        <p:txBody>
          <a:bodyPr/>
          <a:lstStyle/>
          <a:p>
            <a:endParaRPr lang="en-US"/>
          </a:p>
        </p:txBody>
      </p:sp>
      <p:sp>
        <p:nvSpPr>
          <p:cNvPr id="38" name="Shape 35"/>
          <p:cNvSpPr/>
          <p:nvPr/>
        </p:nvSpPr>
        <p:spPr>
          <a:xfrm>
            <a:off x="414338" y="4381500"/>
            <a:ext cx="2476500" cy="0"/>
          </a:xfrm>
          <a:prstGeom prst="line">
            <a:avLst/>
          </a:prstGeom>
          <a:noFill/>
          <a:ln w="12700">
            <a:solidFill>
              <a:srgbClr val="393939"/>
            </a:solidFill>
            <a:prstDash val="dash"/>
          </a:ln>
        </p:spPr>
        <p:txBody>
          <a:bodyPr/>
          <a:lstStyle/>
          <a:p>
            <a:endParaRPr lang="en-US"/>
          </a:p>
        </p:txBody>
      </p:sp>
      <p:sp>
        <p:nvSpPr>
          <p:cNvPr id="39" name="Shape 36"/>
          <p:cNvSpPr/>
          <p:nvPr/>
        </p:nvSpPr>
        <p:spPr>
          <a:xfrm>
            <a:off x="414338" y="4038600"/>
            <a:ext cx="2476500" cy="0"/>
          </a:xfrm>
          <a:prstGeom prst="line">
            <a:avLst/>
          </a:prstGeom>
          <a:noFill/>
          <a:ln w="12700">
            <a:solidFill>
              <a:srgbClr val="393939"/>
            </a:solidFill>
            <a:prstDash val="dash"/>
          </a:ln>
        </p:spPr>
        <p:txBody>
          <a:bodyPr/>
          <a:lstStyle/>
          <a:p>
            <a:endParaRPr lang="en-US"/>
          </a:p>
        </p:txBody>
      </p:sp>
      <p:sp>
        <p:nvSpPr>
          <p:cNvPr id="40" name="Shape 37"/>
          <p:cNvSpPr/>
          <p:nvPr/>
        </p:nvSpPr>
        <p:spPr>
          <a:xfrm>
            <a:off x="414338" y="3695700"/>
            <a:ext cx="2476500" cy="0"/>
          </a:xfrm>
          <a:prstGeom prst="line">
            <a:avLst/>
          </a:prstGeom>
          <a:noFill/>
          <a:ln w="12700">
            <a:solidFill>
              <a:srgbClr val="393939"/>
            </a:solidFill>
            <a:prstDash val="dash"/>
          </a:ln>
        </p:spPr>
        <p:txBody>
          <a:bodyPr/>
          <a:lstStyle/>
          <a:p>
            <a:endParaRPr lang="en-US"/>
          </a:p>
        </p:txBody>
      </p:sp>
      <p:sp>
        <p:nvSpPr>
          <p:cNvPr id="41" name="Shape 38"/>
          <p:cNvSpPr/>
          <p:nvPr/>
        </p:nvSpPr>
        <p:spPr>
          <a:xfrm>
            <a:off x="414338" y="3352800"/>
            <a:ext cx="2476500" cy="0"/>
          </a:xfrm>
          <a:prstGeom prst="line">
            <a:avLst/>
          </a:prstGeom>
          <a:noFill/>
          <a:ln w="12700">
            <a:solidFill>
              <a:srgbClr val="393939"/>
            </a:solidFill>
            <a:prstDash val="dash"/>
          </a:ln>
        </p:spPr>
        <p:txBody>
          <a:bodyPr/>
          <a:lstStyle/>
          <a:p>
            <a:endParaRPr lang="en-US"/>
          </a:p>
        </p:txBody>
      </p:sp>
      <p:sp>
        <p:nvSpPr>
          <p:cNvPr id="42" name="Shape 39"/>
          <p:cNvSpPr/>
          <p:nvPr/>
        </p:nvSpPr>
        <p:spPr>
          <a:xfrm>
            <a:off x="3100388" y="952500"/>
            <a:ext cx="2924175" cy="1905000"/>
          </a:xfrm>
          <a:prstGeom prst="rect">
            <a:avLst/>
          </a:prstGeom>
          <a:solidFill>
            <a:srgbClr val="252525"/>
          </a:solidFill>
          <a:ln/>
        </p:spPr>
        <p:txBody>
          <a:bodyPr/>
          <a:lstStyle/>
          <a:p>
            <a:endParaRPr lang="en-US"/>
          </a:p>
        </p:txBody>
      </p:sp>
      <p:sp>
        <p:nvSpPr>
          <p:cNvPr id="46" name="Shape 43"/>
          <p:cNvSpPr/>
          <p:nvPr/>
        </p:nvSpPr>
        <p:spPr>
          <a:xfrm>
            <a:off x="3100388" y="952500"/>
            <a:ext cx="2924175" cy="280988"/>
          </a:xfrm>
          <a:prstGeom prst="rect">
            <a:avLst/>
          </a:prstGeom>
          <a:solidFill>
            <a:srgbClr val="2B2D2E"/>
          </a:solidFill>
          <a:ln w="12700">
            <a:solidFill>
              <a:srgbClr val="393939"/>
            </a:solidFill>
            <a:prstDash val="solid"/>
          </a:ln>
        </p:spPr>
        <p:txBody>
          <a:bodyPr/>
          <a:lstStyle/>
          <a:p>
            <a:endParaRPr lang="en-US"/>
          </a:p>
        </p:txBody>
      </p:sp>
      <p:sp>
        <p:nvSpPr>
          <p:cNvPr id="47" name="Shape 44"/>
          <p:cNvSpPr/>
          <p:nvPr/>
        </p:nvSpPr>
        <p:spPr>
          <a:xfrm>
            <a:off x="3429000" y="2633663"/>
            <a:ext cx="2486025" cy="0"/>
          </a:xfrm>
          <a:prstGeom prst="line">
            <a:avLst/>
          </a:prstGeom>
          <a:noFill/>
          <a:ln w="12700">
            <a:solidFill>
              <a:srgbClr val="575757"/>
            </a:solidFill>
            <a:prstDash val="solid"/>
          </a:ln>
        </p:spPr>
        <p:txBody>
          <a:bodyPr/>
          <a:lstStyle/>
          <a:p>
            <a:endParaRPr lang="en-US"/>
          </a:p>
        </p:txBody>
      </p:sp>
      <p:sp>
        <p:nvSpPr>
          <p:cNvPr id="48" name="Shape 45"/>
          <p:cNvSpPr/>
          <p:nvPr/>
        </p:nvSpPr>
        <p:spPr>
          <a:xfrm>
            <a:off x="3429000" y="2333625"/>
            <a:ext cx="2486025" cy="0"/>
          </a:xfrm>
          <a:prstGeom prst="line">
            <a:avLst/>
          </a:prstGeom>
          <a:noFill/>
          <a:ln w="12700">
            <a:solidFill>
              <a:srgbClr val="393939"/>
            </a:solidFill>
            <a:prstDash val="dash"/>
          </a:ln>
        </p:spPr>
        <p:txBody>
          <a:bodyPr/>
          <a:lstStyle/>
          <a:p>
            <a:endParaRPr lang="en-US"/>
          </a:p>
        </p:txBody>
      </p:sp>
      <p:sp>
        <p:nvSpPr>
          <p:cNvPr id="49" name="Shape 46"/>
          <p:cNvSpPr/>
          <p:nvPr/>
        </p:nvSpPr>
        <p:spPr>
          <a:xfrm>
            <a:off x="3429000" y="2033588"/>
            <a:ext cx="2486025" cy="0"/>
          </a:xfrm>
          <a:prstGeom prst="line">
            <a:avLst/>
          </a:prstGeom>
          <a:noFill/>
          <a:ln w="12700">
            <a:solidFill>
              <a:srgbClr val="393939"/>
            </a:solidFill>
            <a:prstDash val="dash"/>
          </a:ln>
        </p:spPr>
        <p:txBody>
          <a:bodyPr/>
          <a:lstStyle/>
          <a:p>
            <a:endParaRPr lang="en-US"/>
          </a:p>
        </p:txBody>
      </p:sp>
      <p:sp>
        <p:nvSpPr>
          <p:cNvPr id="50" name="Shape 47"/>
          <p:cNvSpPr/>
          <p:nvPr/>
        </p:nvSpPr>
        <p:spPr>
          <a:xfrm>
            <a:off x="3429000" y="1733550"/>
            <a:ext cx="2486025" cy="0"/>
          </a:xfrm>
          <a:prstGeom prst="line">
            <a:avLst/>
          </a:prstGeom>
          <a:noFill/>
          <a:ln w="12700">
            <a:solidFill>
              <a:srgbClr val="393939"/>
            </a:solidFill>
            <a:prstDash val="dash"/>
          </a:ln>
        </p:spPr>
        <p:txBody>
          <a:bodyPr/>
          <a:lstStyle/>
          <a:p>
            <a:endParaRPr lang="en-US"/>
          </a:p>
        </p:txBody>
      </p:sp>
      <p:sp>
        <p:nvSpPr>
          <p:cNvPr id="51" name="Shape 48"/>
          <p:cNvSpPr/>
          <p:nvPr/>
        </p:nvSpPr>
        <p:spPr>
          <a:xfrm>
            <a:off x="3429000" y="1433513"/>
            <a:ext cx="2486025" cy="0"/>
          </a:xfrm>
          <a:prstGeom prst="line">
            <a:avLst/>
          </a:prstGeom>
          <a:noFill/>
          <a:ln w="12700">
            <a:solidFill>
              <a:srgbClr val="393939"/>
            </a:solidFill>
            <a:prstDash val="dash"/>
          </a:ln>
        </p:spPr>
        <p:txBody>
          <a:bodyPr/>
          <a:lstStyle/>
          <a:p>
            <a:endParaRPr lang="en-US"/>
          </a:p>
        </p:txBody>
      </p:sp>
      <p:sp>
        <p:nvSpPr>
          <p:cNvPr id="52" name="Shape 49"/>
          <p:cNvSpPr/>
          <p:nvPr/>
        </p:nvSpPr>
        <p:spPr>
          <a:xfrm>
            <a:off x="6119813" y="952500"/>
            <a:ext cx="2924175" cy="1905000"/>
          </a:xfrm>
          <a:prstGeom prst="rect">
            <a:avLst/>
          </a:prstGeom>
          <a:solidFill>
            <a:srgbClr val="252525"/>
          </a:solidFill>
          <a:ln/>
        </p:spPr>
        <p:txBody>
          <a:bodyPr/>
          <a:lstStyle/>
          <a:p>
            <a:endParaRPr lang="en-US"/>
          </a:p>
        </p:txBody>
      </p:sp>
      <p:sp>
        <p:nvSpPr>
          <p:cNvPr id="33" name="Shape 30"/>
          <p:cNvSpPr/>
          <p:nvPr/>
        </p:nvSpPr>
        <p:spPr>
          <a:xfrm>
            <a:off x="547688" y="3338513"/>
            <a:ext cx="476250" cy="1385888"/>
          </a:xfrm>
          <a:prstGeom prst="rect">
            <a:avLst/>
          </a:prstGeom>
          <a:solidFill>
            <a:srgbClr val="08B1D0"/>
          </a:solidFill>
          <a:ln/>
        </p:spPr>
        <p:txBody>
          <a:bodyPr/>
          <a:lstStyle/>
          <a:p>
            <a:endParaRPr lang="en-US"/>
          </a:p>
        </p:txBody>
      </p:sp>
      <p:sp>
        <p:nvSpPr>
          <p:cNvPr id="53" name="Shape 50"/>
          <p:cNvSpPr/>
          <p:nvPr/>
        </p:nvSpPr>
        <p:spPr>
          <a:xfrm>
            <a:off x="6119813" y="952500"/>
            <a:ext cx="2924175" cy="280988"/>
          </a:xfrm>
          <a:prstGeom prst="rect">
            <a:avLst/>
          </a:prstGeom>
          <a:solidFill>
            <a:srgbClr val="2B2D2E"/>
          </a:solidFill>
          <a:ln w="12700">
            <a:solidFill>
              <a:srgbClr val="393939"/>
            </a:solidFill>
            <a:prstDash val="solid"/>
          </a:ln>
        </p:spPr>
        <p:txBody>
          <a:bodyPr/>
          <a:lstStyle/>
          <a:p>
            <a:endParaRPr lang="en-US"/>
          </a:p>
        </p:txBody>
      </p:sp>
      <p:sp>
        <p:nvSpPr>
          <p:cNvPr id="54" name="Shape 51"/>
          <p:cNvSpPr/>
          <p:nvPr/>
        </p:nvSpPr>
        <p:spPr>
          <a:xfrm>
            <a:off x="6215063" y="1314450"/>
            <a:ext cx="2733675" cy="671513"/>
          </a:xfrm>
          <a:prstGeom prst="rect">
            <a:avLst/>
          </a:prstGeom>
          <a:solidFill>
            <a:srgbClr val="2B2D2E"/>
          </a:solidFill>
          <a:ln w="12700">
            <a:solidFill>
              <a:srgbClr val="393939"/>
            </a:solidFill>
            <a:prstDash val="solid"/>
          </a:ln>
        </p:spPr>
        <p:txBody>
          <a:bodyPr/>
          <a:lstStyle/>
          <a:p>
            <a:endParaRPr lang="en-US"/>
          </a:p>
        </p:txBody>
      </p:sp>
      <p:sp>
        <p:nvSpPr>
          <p:cNvPr id="55" name="Shape 52"/>
          <p:cNvSpPr/>
          <p:nvPr/>
        </p:nvSpPr>
        <p:spPr>
          <a:xfrm>
            <a:off x="6643688" y="1738313"/>
            <a:ext cx="1890713" cy="209550"/>
          </a:xfrm>
          <a:prstGeom prst="rect">
            <a:avLst/>
          </a:prstGeom>
          <a:noFill/>
          <a:ln/>
        </p:spPr>
        <p:txBody>
          <a:bodyPr/>
          <a:lstStyle/>
          <a:p>
            <a:endParaRPr lang="en-US"/>
          </a:p>
        </p:txBody>
      </p:sp>
      <p:sp>
        <p:nvSpPr>
          <p:cNvPr id="56" name="Shape 53"/>
          <p:cNvSpPr/>
          <p:nvPr/>
        </p:nvSpPr>
        <p:spPr>
          <a:xfrm>
            <a:off x="6643688" y="1743075"/>
            <a:ext cx="1009650" cy="200025"/>
          </a:xfrm>
          <a:prstGeom prst="roundRect">
            <a:avLst>
              <a:gd name="adj" fmla="val 18286"/>
            </a:avLst>
          </a:prstGeom>
          <a:solidFill>
            <a:srgbClr val="111111"/>
          </a:solidFill>
          <a:ln/>
        </p:spPr>
        <p:txBody>
          <a:bodyPr/>
          <a:lstStyle/>
          <a:p>
            <a:endParaRPr lang="en-US"/>
          </a:p>
        </p:txBody>
      </p:sp>
      <p:sp>
        <p:nvSpPr>
          <p:cNvPr id="57" name="Shape 54"/>
          <p:cNvSpPr/>
          <p:nvPr/>
        </p:nvSpPr>
        <p:spPr>
          <a:xfrm>
            <a:off x="7720013" y="1738313"/>
            <a:ext cx="814388" cy="209550"/>
          </a:xfrm>
          <a:prstGeom prst="roundRect">
            <a:avLst>
              <a:gd name="adj" fmla="val 17455"/>
            </a:avLst>
          </a:prstGeom>
          <a:solidFill>
            <a:srgbClr val="111111"/>
          </a:solidFill>
          <a:ln/>
        </p:spPr>
        <p:txBody>
          <a:bodyPr/>
          <a:lstStyle/>
          <a:p>
            <a:endParaRPr lang="en-US"/>
          </a:p>
        </p:txBody>
      </p:sp>
      <p:sp>
        <p:nvSpPr>
          <p:cNvPr id="58" name="Shape 55"/>
          <p:cNvSpPr/>
          <p:nvPr/>
        </p:nvSpPr>
        <p:spPr>
          <a:xfrm>
            <a:off x="6524625" y="1471613"/>
            <a:ext cx="2128838" cy="195263"/>
          </a:xfrm>
          <a:prstGeom prst="rect">
            <a:avLst/>
          </a:prstGeom>
          <a:noFill/>
          <a:ln/>
        </p:spPr>
        <p:txBody>
          <a:bodyPr/>
          <a:lstStyle/>
          <a:p>
            <a:endParaRPr lang="en-US"/>
          </a:p>
        </p:txBody>
      </p:sp>
      <p:sp>
        <p:nvSpPr>
          <p:cNvPr id="59" name="Shape 56"/>
          <p:cNvSpPr/>
          <p:nvPr/>
        </p:nvSpPr>
        <p:spPr>
          <a:xfrm>
            <a:off x="6315075" y="1471613"/>
            <a:ext cx="1114425" cy="195263"/>
          </a:xfrm>
          <a:prstGeom prst="roundRect">
            <a:avLst>
              <a:gd name="adj" fmla="val 18732"/>
            </a:avLst>
          </a:prstGeom>
          <a:solidFill>
            <a:srgbClr val="111111"/>
          </a:solidFill>
          <a:ln/>
        </p:spPr>
        <p:txBody>
          <a:bodyPr/>
          <a:lstStyle/>
          <a:p>
            <a:endParaRPr lang="en-US" dirty="0"/>
          </a:p>
        </p:txBody>
      </p:sp>
      <p:sp>
        <p:nvSpPr>
          <p:cNvPr id="60" name="Shape 57"/>
          <p:cNvSpPr/>
          <p:nvPr/>
        </p:nvSpPr>
        <p:spPr>
          <a:xfrm>
            <a:off x="7624761" y="1471613"/>
            <a:ext cx="1154907" cy="195263"/>
          </a:xfrm>
          <a:prstGeom prst="roundRect">
            <a:avLst>
              <a:gd name="adj" fmla="val 18732"/>
            </a:avLst>
          </a:prstGeom>
          <a:solidFill>
            <a:srgbClr val="111111"/>
          </a:solidFill>
          <a:ln/>
        </p:spPr>
        <p:txBody>
          <a:bodyPr/>
          <a:lstStyle/>
          <a:p>
            <a:endParaRPr lang="en-US"/>
          </a:p>
        </p:txBody>
      </p:sp>
      <p:sp>
        <p:nvSpPr>
          <p:cNvPr id="61" name="Shape 58"/>
          <p:cNvSpPr/>
          <p:nvPr/>
        </p:nvSpPr>
        <p:spPr>
          <a:xfrm>
            <a:off x="6215063" y="2105025"/>
            <a:ext cx="2733675" cy="671513"/>
          </a:xfrm>
          <a:prstGeom prst="rect">
            <a:avLst/>
          </a:prstGeom>
          <a:solidFill>
            <a:srgbClr val="2B2D2E"/>
          </a:solidFill>
          <a:ln w="12700">
            <a:solidFill>
              <a:srgbClr val="393939"/>
            </a:solidFill>
            <a:prstDash val="solid"/>
          </a:ln>
        </p:spPr>
        <p:txBody>
          <a:bodyPr/>
          <a:lstStyle/>
          <a:p>
            <a:endParaRPr lang="en-US"/>
          </a:p>
        </p:txBody>
      </p:sp>
      <p:sp>
        <p:nvSpPr>
          <p:cNvPr id="43" name="Shape 40"/>
          <p:cNvSpPr/>
          <p:nvPr/>
        </p:nvSpPr>
        <p:spPr>
          <a:xfrm>
            <a:off x="3548063" y="1828800"/>
            <a:ext cx="476250" cy="809625"/>
          </a:xfrm>
          <a:prstGeom prst="rect">
            <a:avLst/>
          </a:prstGeom>
          <a:solidFill>
            <a:srgbClr val="08B1D0"/>
          </a:solidFill>
          <a:ln/>
        </p:spPr>
        <p:txBody>
          <a:bodyPr/>
          <a:lstStyle/>
          <a:p>
            <a:endParaRPr lang="en-US"/>
          </a:p>
        </p:txBody>
      </p:sp>
      <p:sp>
        <p:nvSpPr>
          <p:cNvPr id="44" name="Shape 41"/>
          <p:cNvSpPr/>
          <p:nvPr/>
        </p:nvSpPr>
        <p:spPr>
          <a:xfrm>
            <a:off x="4433888" y="2228850"/>
            <a:ext cx="476250" cy="409575"/>
          </a:xfrm>
          <a:prstGeom prst="rect">
            <a:avLst/>
          </a:prstGeom>
          <a:solidFill>
            <a:srgbClr val="08B1D0"/>
          </a:solidFill>
          <a:ln/>
        </p:spPr>
        <p:txBody>
          <a:bodyPr/>
          <a:lstStyle/>
          <a:p>
            <a:endParaRPr lang="en-US"/>
          </a:p>
        </p:txBody>
      </p:sp>
      <p:sp>
        <p:nvSpPr>
          <p:cNvPr id="45" name="Shape 42"/>
          <p:cNvSpPr/>
          <p:nvPr/>
        </p:nvSpPr>
        <p:spPr>
          <a:xfrm>
            <a:off x="5319713" y="1976438"/>
            <a:ext cx="476250" cy="661988"/>
          </a:xfrm>
          <a:prstGeom prst="rect">
            <a:avLst/>
          </a:prstGeom>
          <a:solidFill>
            <a:srgbClr val="08B1D0"/>
          </a:solidFill>
          <a:ln/>
        </p:spPr>
        <p:txBody>
          <a:bodyPr/>
          <a:lstStyle/>
          <a:p>
            <a:endParaRPr lang="en-US"/>
          </a:p>
        </p:txBody>
      </p:sp>
      <p:sp>
        <p:nvSpPr>
          <p:cNvPr id="62" name="Shape 59"/>
          <p:cNvSpPr/>
          <p:nvPr/>
        </p:nvSpPr>
        <p:spPr>
          <a:xfrm>
            <a:off x="6643688" y="2528888"/>
            <a:ext cx="1890713" cy="209550"/>
          </a:xfrm>
          <a:prstGeom prst="rect">
            <a:avLst/>
          </a:prstGeom>
          <a:noFill/>
          <a:ln/>
        </p:spPr>
        <p:txBody>
          <a:bodyPr/>
          <a:lstStyle/>
          <a:p>
            <a:endParaRPr lang="en-US"/>
          </a:p>
        </p:txBody>
      </p:sp>
      <p:sp>
        <p:nvSpPr>
          <p:cNvPr id="63" name="Shape 60"/>
          <p:cNvSpPr/>
          <p:nvPr/>
        </p:nvSpPr>
        <p:spPr>
          <a:xfrm>
            <a:off x="6643688" y="2533650"/>
            <a:ext cx="1009650" cy="200025"/>
          </a:xfrm>
          <a:prstGeom prst="roundRect">
            <a:avLst>
              <a:gd name="adj" fmla="val 18286"/>
            </a:avLst>
          </a:prstGeom>
          <a:solidFill>
            <a:srgbClr val="111111"/>
          </a:solidFill>
          <a:ln/>
        </p:spPr>
        <p:txBody>
          <a:bodyPr/>
          <a:lstStyle/>
          <a:p>
            <a:endParaRPr lang="en-US"/>
          </a:p>
        </p:txBody>
      </p:sp>
      <p:sp>
        <p:nvSpPr>
          <p:cNvPr id="64" name="Shape 61"/>
          <p:cNvSpPr/>
          <p:nvPr/>
        </p:nvSpPr>
        <p:spPr>
          <a:xfrm>
            <a:off x="7720013" y="2528888"/>
            <a:ext cx="814388" cy="209550"/>
          </a:xfrm>
          <a:prstGeom prst="roundRect">
            <a:avLst>
              <a:gd name="adj" fmla="val 17455"/>
            </a:avLst>
          </a:prstGeom>
          <a:solidFill>
            <a:srgbClr val="111111"/>
          </a:solidFill>
          <a:ln/>
        </p:spPr>
        <p:txBody>
          <a:bodyPr/>
          <a:lstStyle/>
          <a:p>
            <a:endParaRPr lang="en-US"/>
          </a:p>
        </p:txBody>
      </p:sp>
      <p:sp>
        <p:nvSpPr>
          <p:cNvPr id="65" name="Shape 62"/>
          <p:cNvSpPr/>
          <p:nvPr/>
        </p:nvSpPr>
        <p:spPr>
          <a:xfrm>
            <a:off x="6524625" y="2262188"/>
            <a:ext cx="2128838" cy="195263"/>
          </a:xfrm>
          <a:prstGeom prst="rect">
            <a:avLst/>
          </a:prstGeom>
          <a:noFill/>
          <a:ln/>
        </p:spPr>
        <p:txBody>
          <a:bodyPr/>
          <a:lstStyle/>
          <a:p>
            <a:endParaRPr lang="en-US"/>
          </a:p>
        </p:txBody>
      </p:sp>
      <p:sp>
        <p:nvSpPr>
          <p:cNvPr id="66" name="Shape 63"/>
          <p:cNvSpPr/>
          <p:nvPr/>
        </p:nvSpPr>
        <p:spPr>
          <a:xfrm>
            <a:off x="6315075" y="2262188"/>
            <a:ext cx="1114425" cy="195263"/>
          </a:xfrm>
          <a:prstGeom prst="roundRect">
            <a:avLst>
              <a:gd name="adj" fmla="val 18732"/>
            </a:avLst>
          </a:prstGeom>
          <a:solidFill>
            <a:srgbClr val="111111"/>
          </a:solidFill>
          <a:ln/>
        </p:spPr>
        <p:txBody>
          <a:bodyPr/>
          <a:lstStyle/>
          <a:p>
            <a:endParaRPr lang="en-US"/>
          </a:p>
        </p:txBody>
      </p:sp>
      <p:sp>
        <p:nvSpPr>
          <p:cNvPr id="67" name="Shape 64"/>
          <p:cNvSpPr/>
          <p:nvPr/>
        </p:nvSpPr>
        <p:spPr>
          <a:xfrm>
            <a:off x="7624762" y="2262188"/>
            <a:ext cx="1154906" cy="195263"/>
          </a:xfrm>
          <a:prstGeom prst="roundRect">
            <a:avLst>
              <a:gd name="adj" fmla="val 18732"/>
            </a:avLst>
          </a:prstGeom>
          <a:solidFill>
            <a:srgbClr val="111111"/>
          </a:solidFill>
          <a:ln/>
        </p:spPr>
        <p:txBody>
          <a:bodyPr/>
          <a:lstStyle/>
          <a:p>
            <a:endParaRPr lang="en-US" dirty="0"/>
          </a:p>
        </p:txBody>
      </p:sp>
      <p:sp>
        <p:nvSpPr>
          <p:cNvPr id="68" name="Shape 65"/>
          <p:cNvSpPr/>
          <p:nvPr/>
        </p:nvSpPr>
        <p:spPr>
          <a:xfrm>
            <a:off x="1604963" y="1643063"/>
            <a:ext cx="1190625" cy="619125"/>
          </a:xfrm>
          <a:prstGeom prst="roundRect">
            <a:avLst>
              <a:gd name="adj" fmla="val 8862"/>
            </a:avLst>
          </a:prstGeom>
          <a:solidFill>
            <a:srgbClr val="181818"/>
          </a:solidFill>
          <a:ln w="12700">
            <a:solidFill>
              <a:srgbClr val="393939"/>
            </a:solidFill>
            <a:prstDash val="solid"/>
          </a:ln>
        </p:spPr>
        <p:txBody>
          <a:bodyPr/>
          <a:lstStyle/>
          <a:p>
            <a:endParaRPr lang="en-US"/>
          </a:p>
        </p:txBody>
      </p:sp>
      <p:sp>
        <p:nvSpPr>
          <p:cNvPr id="69" name="Shape 66"/>
          <p:cNvSpPr/>
          <p:nvPr/>
        </p:nvSpPr>
        <p:spPr>
          <a:xfrm>
            <a:off x="319088" y="1643063"/>
            <a:ext cx="1190625" cy="619125"/>
          </a:xfrm>
          <a:prstGeom prst="roundRect">
            <a:avLst>
              <a:gd name="adj" fmla="val 8862"/>
            </a:avLst>
          </a:prstGeom>
          <a:solidFill>
            <a:srgbClr val="181818"/>
          </a:solidFill>
          <a:ln w="12700">
            <a:solidFill>
              <a:srgbClr val="393939"/>
            </a:solidFill>
            <a:prstDash val="solid"/>
          </a:ln>
        </p:spPr>
        <p:txBody>
          <a:bodyPr/>
          <a:lstStyle/>
          <a:p>
            <a:endParaRPr lang="en-US"/>
          </a:p>
        </p:txBody>
      </p:sp>
      <p:sp>
        <p:nvSpPr>
          <p:cNvPr id="70" name="Shape 67"/>
          <p:cNvSpPr/>
          <p:nvPr/>
        </p:nvSpPr>
        <p:spPr>
          <a:xfrm>
            <a:off x="176213" y="2424113"/>
            <a:ext cx="2733675" cy="271463"/>
          </a:xfrm>
          <a:prstGeom prst="roundRect">
            <a:avLst/>
          </a:prstGeom>
          <a:solidFill>
            <a:srgbClr val="2B2D2E"/>
          </a:solidFill>
          <a:ln w="12700">
            <a:solidFill>
              <a:srgbClr val="393939"/>
            </a:solidFill>
            <a:prstDash val="solid"/>
          </a:ln>
        </p:spPr>
        <p:txBody>
          <a:bodyPr/>
          <a:lstStyle/>
          <a:p>
            <a:endParaRPr lang="en-US"/>
          </a:p>
        </p:txBody>
      </p:sp>
      <p:pic>
        <p:nvPicPr>
          <p:cNvPr id="71" name="Image 0" descr="preencoded.png"/>
          <p:cNvPicPr>
            <a:picLocks noChangeAspect="1"/>
          </p:cNvPicPr>
          <p:nvPr/>
        </p:nvPicPr>
        <p:blipFill>
          <a:blip r:embed="rId3"/>
          <a:stretch>
            <a:fillRect/>
          </a:stretch>
        </p:blipFill>
        <p:spPr>
          <a:xfrm>
            <a:off x="4024313" y="4514850"/>
            <a:ext cx="319088" cy="100013"/>
          </a:xfrm>
          <a:prstGeom prst="rect">
            <a:avLst/>
          </a:prstGeom>
        </p:spPr>
      </p:pic>
      <p:pic>
        <p:nvPicPr>
          <p:cNvPr id="72" name="Image 1" descr="preencoded.png"/>
          <p:cNvPicPr>
            <a:picLocks noChangeAspect="1"/>
          </p:cNvPicPr>
          <p:nvPr/>
        </p:nvPicPr>
        <p:blipFill>
          <a:blip r:embed="rId4"/>
          <a:stretch>
            <a:fillRect/>
          </a:stretch>
        </p:blipFill>
        <p:spPr>
          <a:xfrm>
            <a:off x="5591175" y="4624388"/>
            <a:ext cx="114300" cy="114300"/>
          </a:xfrm>
          <a:prstGeom prst="rect">
            <a:avLst/>
          </a:prstGeom>
        </p:spPr>
      </p:pic>
      <p:pic>
        <p:nvPicPr>
          <p:cNvPr id="73" name="Image 2" descr="preencoded.png"/>
          <p:cNvPicPr>
            <a:picLocks noChangeAspect="1"/>
          </p:cNvPicPr>
          <p:nvPr/>
        </p:nvPicPr>
        <p:blipFill>
          <a:blip r:embed="rId5"/>
          <a:stretch>
            <a:fillRect/>
          </a:stretch>
        </p:blipFill>
        <p:spPr>
          <a:xfrm>
            <a:off x="6743700" y="4641056"/>
            <a:ext cx="76200" cy="76200"/>
          </a:xfrm>
          <a:prstGeom prst="rect">
            <a:avLst/>
          </a:prstGeom>
        </p:spPr>
      </p:pic>
      <p:pic>
        <p:nvPicPr>
          <p:cNvPr id="74" name="Image 3" descr="preencoded.png"/>
          <p:cNvPicPr>
            <a:picLocks noChangeAspect="1"/>
          </p:cNvPicPr>
          <p:nvPr/>
        </p:nvPicPr>
        <p:blipFill>
          <a:blip r:embed="rId6"/>
          <a:stretch>
            <a:fillRect/>
          </a:stretch>
        </p:blipFill>
        <p:spPr>
          <a:xfrm>
            <a:off x="7205663" y="4656931"/>
            <a:ext cx="51593" cy="51594"/>
          </a:xfrm>
          <a:prstGeom prst="rect">
            <a:avLst/>
          </a:prstGeom>
        </p:spPr>
      </p:pic>
      <p:pic>
        <p:nvPicPr>
          <p:cNvPr id="75" name="Image 4" descr="preencoded.png"/>
          <p:cNvPicPr>
            <a:picLocks noChangeAspect="1"/>
          </p:cNvPicPr>
          <p:nvPr/>
        </p:nvPicPr>
        <p:blipFill>
          <a:blip r:embed="rId4"/>
          <a:stretch>
            <a:fillRect/>
          </a:stretch>
        </p:blipFill>
        <p:spPr>
          <a:xfrm>
            <a:off x="3438525" y="4624388"/>
            <a:ext cx="114300" cy="114300"/>
          </a:xfrm>
          <a:prstGeom prst="rect">
            <a:avLst/>
          </a:prstGeom>
        </p:spPr>
      </p:pic>
      <p:pic>
        <p:nvPicPr>
          <p:cNvPr id="76" name="Image 5" descr="preencoded.png"/>
          <p:cNvPicPr>
            <a:picLocks noChangeAspect="1"/>
          </p:cNvPicPr>
          <p:nvPr/>
        </p:nvPicPr>
        <p:blipFill>
          <a:blip r:embed="rId5"/>
          <a:stretch>
            <a:fillRect/>
          </a:stretch>
        </p:blipFill>
        <p:spPr>
          <a:xfrm>
            <a:off x="4591050" y="4641056"/>
            <a:ext cx="76200" cy="76200"/>
          </a:xfrm>
          <a:prstGeom prst="rect">
            <a:avLst/>
          </a:prstGeom>
        </p:spPr>
      </p:pic>
      <p:pic>
        <p:nvPicPr>
          <p:cNvPr id="77" name="Image 6" descr="preencoded.png"/>
          <p:cNvPicPr>
            <a:picLocks noChangeAspect="1"/>
          </p:cNvPicPr>
          <p:nvPr/>
        </p:nvPicPr>
        <p:blipFill>
          <a:blip r:embed="rId6"/>
          <a:stretch>
            <a:fillRect/>
          </a:stretch>
        </p:blipFill>
        <p:spPr>
          <a:xfrm>
            <a:off x="5053013" y="4656931"/>
            <a:ext cx="51593" cy="51594"/>
          </a:xfrm>
          <a:prstGeom prst="rect">
            <a:avLst/>
          </a:prstGeom>
        </p:spPr>
      </p:pic>
      <p:pic>
        <p:nvPicPr>
          <p:cNvPr id="78" name="Image 7" descr="preencoded.png"/>
          <p:cNvPicPr>
            <a:picLocks noChangeAspect="1"/>
          </p:cNvPicPr>
          <p:nvPr/>
        </p:nvPicPr>
        <p:blipFill>
          <a:blip r:embed="rId7"/>
          <a:stretch>
            <a:fillRect/>
          </a:stretch>
        </p:blipFill>
        <p:spPr>
          <a:xfrm>
            <a:off x="5219700" y="2819400"/>
            <a:ext cx="928688" cy="114300"/>
          </a:xfrm>
          <a:prstGeom prst="rect">
            <a:avLst/>
          </a:prstGeom>
        </p:spPr>
      </p:pic>
      <p:pic>
        <p:nvPicPr>
          <p:cNvPr id="79" name="Image 8" descr="preencoded.png"/>
          <p:cNvPicPr>
            <a:picLocks noChangeAspect="1"/>
          </p:cNvPicPr>
          <p:nvPr/>
        </p:nvPicPr>
        <p:blipFill>
          <a:blip r:embed="rId7"/>
          <a:stretch>
            <a:fillRect/>
          </a:stretch>
        </p:blipFill>
        <p:spPr>
          <a:xfrm>
            <a:off x="3057525" y="2819400"/>
            <a:ext cx="928688" cy="114300"/>
          </a:xfrm>
          <a:prstGeom prst="rect">
            <a:avLst/>
          </a:prstGeom>
        </p:spPr>
      </p:pic>
      <p:pic>
        <p:nvPicPr>
          <p:cNvPr id="80" name="Image 9" descr="preencoded.png"/>
          <p:cNvPicPr>
            <a:picLocks noChangeAspect="1"/>
          </p:cNvPicPr>
          <p:nvPr/>
        </p:nvPicPr>
        <p:blipFill>
          <a:blip r:embed="rId8"/>
          <a:stretch>
            <a:fillRect/>
          </a:stretch>
        </p:blipFill>
        <p:spPr>
          <a:xfrm>
            <a:off x="7767637" y="1785938"/>
            <a:ext cx="114300" cy="114300"/>
          </a:xfrm>
          <a:prstGeom prst="rect">
            <a:avLst/>
          </a:prstGeom>
        </p:spPr>
      </p:pic>
      <p:pic>
        <p:nvPicPr>
          <p:cNvPr id="81" name="Image 10" descr="preencoded.png"/>
          <p:cNvPicPr>
            <a:picLocks noChangeAspect="1"/>
          </p:cNvPicPr>
          <p:nvPr/>
        </p:nvPicPr>
        <p:blipFill>
          <a:blip r:embed="rId9"/>
          <a:stretch>
            <a:fillRect/>
          </a:stretch>
        </p:blipFill>
        <p:spPr>
          <a:xfrm>
            <a:off x="6691313" y="1790700"/>
            <a:ext cx="104775" cy="104775"/>
          </a:xfrm>
          <a:prstGeom prst="rect">
            <a:avLst/>
          </a:prstGeom>
        </p:spPr>
      </p:pic>
      <p:pic>
        <p:nvPicPr>
          <p:cNvPr id="82" name="Image 11" descr="preencoded.png"/>
          <p:cNvPicPr>
            <a:picLocks noChangeAspect="1"/>
          </p:cNvPicPr>
          <p:nvPr/>
        </p:nvPicPr>
        <p:blipFill>
          <a:blip r:embed="rId8"/>
          <a:stretch>
            <a:fillRect/>
          </a:stretch>
        </p:blipFill>
        <p:spPr>
          <a:xfrm>
            <a:off x="7767637" y="2576513"/>
            <a:ext cx="114300" cy="114300"/>
          </a:xfrm>
          <a:prstGeom prst="rect">
            <a:avLst/>
          </a:prstGeom>
        </p:spPr>
      </p:pic>
      <p:pic>
        <p:nvPicPr>
          <p:cNvPr id="83" name="Image 12" descr="preencoded.png"/>
          <p:cNvPicPr>
            <a:picLocks noChangeAspect="1"/>
          </p:cNvPicPr>
          <p:nvPr/>
        </p:nvPicPr>
        <p:blipFill>
          <a:blip r:embed="rId9"/>
          <a:stretch>
            <a:fillRect/>
          </a:stretch>
        </p:blipFill>
        <p:spPr>
          <a:xfrm>
            <a:off x="6691313" y="2581275"/>
            <a:ext cx="104775" cy="104775"/>
          </a:xfrm>
          <a:prstGeom prst="rect">
            <a:avLst/>
          </a:prstGeom>
        </p:spPr>
      </p:pic>
      <p:pic>
        <p:nvPicPr>
          <p:cNvPr id="84" name="Image 13" descr="preencoded.png"/>
          <p:cNvPicPr>
            <a:picLocks noChangeAspect="1"/>
          </p:cNvPicPr>
          <p:nvPr/>
        </p:nvPicPr>
        <p:blipFill>
          <a:blip r:embed="rId10"/>
          <a:stretch>
            <a:fillRect/>
          </a:stretch>
        </p:blipFill>
        <p:spPr>
          <a:xfrm>
            <a:off x="233362" y="2500313"/>
            <a:ext cx="114300" cy="114300"/>
          </a:xfrm>
          <a:prstGeom prst="rect">
            <a:avLst/>
          </a:prstGeom>
        </p:spPr>
      </p:pic>
      <p:sp>
        <p:nvSpPr>
          <p:cNvPr id="85" name="Text 68"/>
          <p:cNvSpPr/>
          <p:nvPr/>
        </p:nvSpPr>
        <p:spPr>
          <a:xfrm>
            <a:off x="-571" y="995363"/>
            <a:ext cx="1214438" cy="176213"/>
          </a:xfrm>
          <a:prstGeom prst="rect">
            <a:avLst/>
          </a:prstGeom>
          <a:noFill/>
          <a:ln/>
        </p:spPr>
        <p:txBody>
          <a:bodyPr wrap="square" rtlCol="0" anchor="ctr"/>
          <a:lstStyle/>
          <a:p>
            <a:pPr marL="0" indent="0" algn="ctr">
              <a:lnSpc>
                <a:spcPts val="1369"/>
              </a:lnSpc>
              <a:buNone/>
            </a:pPr>
            <a:r>
              <a:rPr lang="en-US" sz="900" b="1" dirty="0">
                <a:solidFill>
                  <a:srgbClr val="FFFFFF">
                    <a:alpha val="99000"/>
                  </a:srgbClr>
                </a:solidFill>
                <a:latin typeface="Titillium Web" pitchFamily="34" charset="0"/>
                <a:ea typeface="Titillium Web" pitchFamily="34" charset="-122"/>
                <a:cs typeface="Titillium Web" pitchFamily="34" charset="-120"/>
              </a:rPr>
              <a:t>Cloud Footprint </a:t>
            </a:r>
            <a:endParaRPr lang="en-US" sz="900" dirty="0"/>
          </a:p>
        </p:txBody>
      </p:sp>
      <p:sp>
        <p:nvSpPr>
          <p:cNvPr id="86" name="Text 69"/>
          <p:cNvSpPr/>
          <p:nvPr/>
        </p:nvSpPr>
        <p:spPr>
          <a:xfrm>
            <a:off x="176213" y="1328738"/>
            <a:ext cx="1495425" cy="128588"/>
          </a:xfrm>
          <a:prstGeom prst="rect">
            <a:avLst/>
          </a:prstGeom>
          <a:noFill/>
          <a:ln/>
        </p:spPr>
        <p:txBody>
          <a:bodyPr wrap="square" rtlCol="0" anchor="ctr"/>
          <a:lstStyle/>
          <a:p>
            <a:pPr marL="0" indent="0" algn="ctr">
              <a:lnSpc>
                <a:spcPts val="1027"/>
              </a:lnSpc>
              <a:buNone/>
            </a:pPr>
            <a:r>
              <a:rPr lang="en-US" sz="675" dirty="0">
                <a:solidFill>
                  <a:srgbClr val="FFFFFF">
                    <a:alpha val="99000"/>
                  </a:srgbClr>
                </a:solidFill>
                <a:latin typeface="Titillium Web" pitchFamily="34" charset="0"/>
                <a:ea typeface="Titillium Web" pitchFamily="34" charset="-122"/>
                <a:cs typeface="Titillium Web" pitchFamily="34" charset="-120"/>
              </a:rPr>
              <a:t>Instance / Analysis Overview</a:t>
            </a:r>
            <a:endParaRPr lang="en-US" sz="675" dirty="0"/>
          </a:p>
        </p:txBody>
      </p:sp>
      <p:sp>
        <p:nvSpPr>
          <p:cNvPr id="87" name="Text 70"/>
          <p:cNvSpPr/>
          <p:nvPr/>
        </p:nvSpPr>
        <p:spPr>
          <a:xfrm>
            <a:off x="3105150" y="133350"/>
            <a:ext cx="3386138" cy="85725"/>
          </a:xfrm>
          <a:prstGeom prst="rect">
            <a:avLst/>
          </a:prstGeom>
          <a:noFill/>
          <a:ln/>
        </p:spPr>
        <p:txBody>
          <a:bodyPr wrap="square" rtlCol="0" anchor="ctr"/>
          <a:lstStyle/>
          <a:p>
            <a:pPr marL="0" indent="0" algn="ctr">
              <a:lnSpc>
                <a:spcPts val="669"/>
              </a:lnSpc>
              <a:buNone/>
            </a:pPr>
            <a:r>
              <a:rPr lang="en-US" sz="1200" b="1" kern="0" spc="3" dirty="0">
                <a:solidFill>
                  <a:srgbClr val="FFFFFF">
                    <a:alpha val="99000"/>
                  </a:srgbClr>
                </a:solidFill>
                <a:latin typeface="Open Sans" pitchFamily="34" charset="0"/>
                <a:ea typeface="Open Sans" pitchFamily="34" charset="-122"/>
                <a:cs typeface="Open Sans" pitchFamily="34" charset="-120"/>
              </a:rPr>
              <a:t>AMD EPYC Modernization Opportunity</a:t>
            </a:r>
            <a:endParaRPr lang="en-US" sz="1200" dirty="0"/>
          </a:p>
        </p:txBody>
      </p:sp>
      <p:sp>
        <p:nvSpPr>
          <p:cNvPr id="88" name="Text 71"/>
          <p:cNvSpPr/>
          <p:nvPr/>
        </p:nvSpPr>
        <p:spPr>
          <a:xfrm>
            <a:off x="-162877" y="347663"/>
            <a:ext cx="1119188" cy="85725"/>
          </a:xfrm>
          <a:prstGeom prst="rect">
            <a:avLst/>
          </a:prstGeom>
          <a:noFill/>
          <a:ln/>
        </p:spPr>
        <p:txBody>
          <a:bodyPr wrap="square" rtlCol="0" anchor="ctr"/>
          <a:lstStyle/>
          <a:p>
            <a:pPr marL="0" indent="0" algn="ctr">
              <a:lnSpc>
                <a:spcPts val="669"/>
              </a:lnSpc>
              <a:buNone/>
            </a:pPr>
            <a:r>
              <a:rPr lang="en-US" sz="938" b="1" kern="0" spc="3" dirty="0">
                <a:solidFill>
                  <a:srgbClr val="FFFFFF">
                    <a:alpha val="99000"/>
                  </a:srgbClr>
                </a:solidFill>
                <a:latin typeface="Open Sans" pitchFamily="34" charset="0"/>
                <a:ea typeface="Open Sans" pitchFamily="34" charset="-122"/>
                <a:cs typeface="Open Sans" pitchFamily="34" charset="-120"/>
              </a:rPr>
              <a:t>Cloud: AWS</a:t>
            </a:r>
            <a:endParaRPr lang="en-US" sz="938" dirty="0"/>
          </a:p>
        </p:txBody>
      </p:sp>
      <p:sp>
        <p:nvSpPr>
          <p:cNvPr id="89" name="Text 72"/>
          <p:cNvSpPr/>
          <p:nvPr/>
        </p:nvSpPr>
        <p:spPr>
          <a:xfrm>
            <a:off x="7476173" y="347663"/>
            <a:ext cx="1781175" cy="85725"/>
          </a:xfrm>
          <a:prstGeom prst="rect">
            <a:avLst/>
          </a:prstGeom>
          <a:noFill/>
          <a:ln/>
        </p:spPr>
        <p:txBody>
          <a:bodyPr wrap="square" rtlCol="0" anchor="ctr"/>
          <a:lstStyle/>
          <a:p>
            <a:pPr marL="0" indent="0" algn="ctr">
              <a:lnSpc>
                <a:spcPts val="669"/>
              </a:lnSpc>
              <a:buNone/>
            </a:pPr>
            <a:r>
              <a:rPr lang="en-US" sz="938" b="1" kern="0" spc="3" dirty="0">
                <a:solidFill>
                  <a:srgbClr val="FFFFFF">
                    <a:alpha val="99000"/>
                  </a:srgbClr>
                </a:solidFill>
                <a:latin typeface="Open Sans" pitchFamily="34" charset="0"/>
                <a:ea typeface="Open Sans" pitchFamily="34" charset="-122"/>
                <a:cs typeface="Open Sans" pitchFamily="34" charset="-120"/>
              </a:rPr>
              <a:t>Customer: INFOBELLIT</a:t>
            </a:r>
            <a:endParaRPr lang="en-US" sz="938" dirty="0"/>
          </a:p>
        </p:txBody>
      </p:sp>
      <p:sp>
        <p:nvSpPr>
          <p:cNvPr id="90" name="Text 73"/>
          <p:cNvSpPr/>
          <p:nvPr/>
        </p:nvSpPr>
        <p:spPr>
          <a:xfrm>
            <a:off x="3905250" y="347663"/>
            <a:ext cx="1790700" cy="85725"/>
          </a:xfrm>
          <a:prstGeom prst="rect">
            <a:avLst/>
          </a:prstGeom>
          <a:noFill/>
          <a:ln/>
        </p:spPr>
        <p:txBody>
          <a:bodyPr wrap="square" rtlCol="0" anchor="ctr"/>
          <a:lstStyle/>
          <a:p>
            <a:pPr marL="0" indent="0" algn="ctr">
              <a:lnSpc>
                <a:spcPts val="669"/>
              </a:lnSpc>
              <a:buNone/>
            </a:pPr>
            <a:r>
              <a:rPr lang="en-US" sz="938" b="1" kern="0" spc="3" dirty="0">
                <a:solidFill>
                  <a:srgbClr val="FFFFFF">
                    <a:alpha val="99000"/>
                  </a:srgbClr>
                </a:solidFill>
                <a:latin typeface="Open Sans" pitchFamily="34" charset="0"/>
                <a:ea typeface="Open Sans" pitchFamily="34" charset="-122"/>
                <a:cs typeface="Open Sans" pitchFamily="34" charset="-120"/>
              </a:rPr>
              <a:t>Date: October 23, 2025</a:t>
            </a:r>
            <a:endParaRPr lang="en-US" sz="938" dirty="0"/>
          </a:p>
        </p:txBody>
      </p:sp>
      <p:sp>
        <p:nvSpPr>
          <p:cNvPr id="91" name="Text 74"/>
          <p:cNvSpPr/>
          <p:nvPr/>
        </p:nvSpPr>
        <p:spPr>
          <a:xfrm>
            <a:off x="2509838" y="4957763"/>
            <a:ext cx="4581525" cy="128588"/>
          </a:xfrm>
          <a:prstGeom prst="rect">
            <a:avLst/>
          </a:prstGeom>
          <a:noFill/>
          <a:ln/>
        </p:spPr>
        <p:txBody>
          <a:bodyPr wrap="square" rtlCol="0" anchor="ctr"/>
          <a:lstStyle/>
          <a:p>
            <a:pPr marL="0" indent="0" algn="ctr">
              <a:lnSpc>
                <a:spcPts val="1027"/>
              </a:lnSpc>
              <a:buNone/>
            </a:pPr>
            <a:r>
              <a:rPr lang="en-US" sz="675" b="1" dirty="0">
                <a:solidFill>
                  <a:srgbClr val="FFFFFF">
                    <a:alpha val="99000"/>
                  </a:srgbClr>
                </a:solidFill>
                <a:latin typeface="Titillium Web" pitchFamily="34" charset="0"/>
                <a:ea typeface="Titillium Web" pitchFamily="34" charset="-122"/>
                <a:cs typeface="Titillium Web" pitchFamily="34" charset="-120"/>
              </a:rPr>
              <a:t>Ready to Explore AMD Solutions? Connect with Sales via the AMD support channel at dl.epycservices@amd.com.</a:t>
            </a:r>
            <a:endParaRPr lang="en-US" sz="675" dirty="0"/>
          </a:p>
        </p:txBody>
      </p:sp>
      <p:sp>
        <p:nvSpPr>
          <p:cNvPr id="92" name="Text 75"/>
          <p:cNvSpPr/>
          <p:nvPr/>
        </p:nvSpPr>
        <p:spPr>
          <a:xfrm>
            <a:off x="3122486" y="3009900"/>
            <a:ext cx="2114550" cy="176213"/>
          </a:xfrm>
          <a:prstGeom prst="rect">
            <a:avLst/>
          </a:prstGeom>
          <a:noFill/>
          <a:ln/>
        </p:spPr>
        <p:txBody>
          <a:bodyPr wrap="square" rtlCol="0" anchor="ctr"/>
          <a:lstStyle/>
          <a:p>
            <a:pPr marL="0" indent="0" algn="l">
              <a:lnSpc>
                <a:spcPts val="1369"/>
              </a:lnSpc>
              <a:buNone/>
            </a:pPr>
            <a:r>
              <a:rPr lang="en-US" sz="900" b="1" dirty="0">
                <a:solidFill>
                  <a:srgbClr val="FFFFFF">
                    <a:alpha val="99000"/>
                  </a:srgbClr>
                </a:solidFill>
                <a:latin typeface="Titillium Web" pitchFamily="34" charset="0"/>
                <a:ea typeface="Titillium Web" pitchFamily="34" charset="-122"/>
                <a:cs typeface="Titillium Web" pitchFamily="34" charset="-120"/>
              </a:rPr>
              <a:t>Power (kW) and Carbon (kgCO2eq)</a:t>
            </a:r>
            <a:endParaRPr lang="en-US" sz="900" dirty="0"/>
          </a:p>
        </p:txBody>
      </p:sp>
      <p:sp>
        <p:nvSpPr>
          <p:cNvPr id="93" name="Text 76"/>
          <p:cNvSpPr/>
          <p:nvPr/>
        </p:nvSpPr>
        <p:spPr>
          <a:xfrm>
            <a:off x="4024313" y="4471988"/>
            <a:ext cx="776287"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Power (Kw)</a:t>
            </a:r>
            <a:endParaRPr lang="en-US" sz="525" dirty="0"/>
          </a:p>
        </p:txBody>
      </p:sp>
      <p:sp>
        <p:nvSpPr>
          <p:cNvPr id="94" name="Text 77"/>
          <p:cNvSpPr/>
          <p:nvPr/>
        </p:nvSpPr>
        <p:spPr>
          <a:xfrm>
            <a:off x="6162675" y="4471988"/>
            <a:ext cx="981075"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Carbon  (KgCO2eq)</a:t>
            </a:r>
            <a:endParaRPr lang="en-US" sz="525" dirty="0"/>
          </a:p>
        </p:txBody>
      </p:sp>
      <p:sp>
        <p:nvSpPr>
          <p:cNvPr id="95" name="Text 78"/>
          <p:cNvSpPr/>
          <p:nvPr/>
        </p:nvSpPr>
        <p:spPr>
          <a:xfrm>
            <a:off x="6841852" y="3390900"/>
            <a:ext cx="623888"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90.11</a:t>
            </a:r>
            <a:endParaRPr lang="en-US" sz="525" dirty="0"/>
          </a:p>
        </p:txBody>
      </p:sp>
      <p:sp>
        <p:nvSpPr>
          <p:cNvPr id="96" name="Text 79"/>
          <p:cNvSpPr/>
          <p:nvPr/>
        </p:nvSpPr>
        <p:spPr>
          <a:xfrm>
            <a:off x="5498827" y="3757613"/>
            <a:ext cx="590550"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7.09</a:t>
            </a:r>
            <a:endParaRPr lang="en-US" sz="525" dirty="0"/>
          </a:p>
        </p:txBody>
      </p:sp>
      <p:sp>
        <p:nvSpPr>
          <p:cNvPr id="97" name="Text 80"/>
          <p:cNvSpPr/>
          <p:nvPr/>
        </p:nvSpPr>
        <p:spPr>
          <a:xfrm>
            <a:off x="5455965" y="4105275"/>
            <a:ext cx="590550"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4.95</a:t>
            </a:r>
            <a:endParaRPr lang="en-US" sz="525" dirty="0"/>
          </a:p>
        </p:txBody>
      </p:sp>
      <p:sp>
        <p:nvSpPr>
          <p:cNvPr id="98" name="Text 81"/>
          <p:cNvSpPr/>
          <p:nvPr/>
        </p:nvSpPr>
        <p:spPr>
          <a:xfrm>
            <a:off x="4195763" y="4786313"/>
            <a:ext cx="2714625" cy="100013"/>
          </a:xfrm>
          <a:prstGeom prst="rect">
            <a:avLst/>
          </a:prstGeom>
          <a:noFill/>
          <a:ln/>
        </p:spPr>
        <p:txBody>
          <a:bodyPr wrap="square" rtlCol="0" anchor="ctr"/>
          <a:lstStyle/>
          <a:p>
            <a:pPr marL="0" indent="0" algn="ctr">
              <a:lnSpc>
                <a:spcPts val="799"/>
              </a:lnSpc>
              <a:buNone/>
            </a:pPr>
            <a:r>
              <a:rPr lang="en-US" sz="525" b="1" dirty="0">
                <a:solidFill>
                  <a:srgbClr val="0594AD">
                    <a:alpha val="99000"/>
                  </a:srgbClr>
                </a:solidFill>
                <a:latin typeface="Titillium Web" pitchFamily="34" charset="0"/>
                <a:ea typeface="Titillium Web" pitchFamily="34" charset="-122"/>
                <a:cs typeface="Titillium Web" pitchFamily="34" charset="-120"/>
              </a:rPr>
              <a:t>Calculation : sustainability Improvement (%) = (Current − Target) / Current × 100</a:t>
            </a:r>
            <a:endParaRPr lang="en-US" sz="525" dirty="0"/>
          </a:p>
        </p:txBody>
      </p:sp>
      <p:sp>
        <p:nvSpPr>
          <p:cNvPr id="99" name="Text 82"/>
          <p:cNvSpPr/>
          <p:nvPr/>
        </p:nvSpPr>
        <p:spPr>
          <a:xfrm>
            <a:off x="5543842" y="4631531"/>
            <a:ext cx="1847850" cy="100013"/>
          </a:xfrm>
          <a:prstGeom prst="rect">
            <a:avLst/>
          </a:prstGeom>
          <a:noFill/>
          <a:ln/>
        </p:spPr>
        <p:txBody>
          <a:bodyPr wrap="square" rtlCol="0" anchor="ctr"/>
          <a:lstStyle/>
          <a:p>
            <a:pPr marL="0" indent="0" algn="ctr">
              <a:lnSpc>
                <a:spcPts val="799"/>
              </a:lnSpc>
              <a:buNone/>
            </a:pPr>
            <a:r>
              <a:rPr lang="en-US" sz="525" b="1" dirty="0">
                <a:solidFill>
                  <a:srgbClr val="FFFFFF">
                    <a:alpha val="99000"/>
                  </a:srgbClr>
                </a:solidFill>
                <a:latin typeface="Titillium Web" pitchFamily="34" charset="0"/>
                <a:ea typeface="Titillium Web" pitchFamily="34" charset="-122"/>
                <a:cs typeface="Titillium Web" pitchFamily="34" charset="-120"/>
              </a:rPr>
              <a:t>Sustainability Score</a:t>
            </a:r>
            <a:r>
              <a:rPr lang="en-US" sz="525" dirty="0">
                <a:solidFill>
                  <a:srgbClr val="FFFFFF">
                    <a:alpha val="99000"/>
                  </a:srgbClr>
                </a:solidFill>
                <a:latin typeface="Titillium Web" pitchFamily="34" charset="0"/>
                <a:ea typeface="Titillium Web" pitchFamily="34" charset="-122"/>
                <a:cs typeface="Titillium Web" pitchFamily="34" charset="-120"/>
              </a:rPr>
              <a:t> : Optimal</a:t>
            </a:r>
            <a:r>
              <a:rPr lang="en-US" sz="525" b="1" dirty="0">
                <a:solidFill>
                  <a:srgbClr val="FFFFFF">
                    <a:alpha val="99000"/>
                  </a:srgbClr>
                </a:solidFill>
                <a:latin typeface="Titillium Web" pitchFamily="34" charset="0"/>
                <a:ea typeface="Titillium Web" pitchFamily="34" charset="-122"/>
                <a:cs typeface="Titillium Web" pitchFamily="34" charset="-120"/>
              </a:rPr>
              <a:t> 91%        </a:t>
            </a:r>
            <a:r>
              <a:rPr lang="en-US" sz="525" dirty="0">
                <a:solidFill>
                  <a:srgbClr val="FFFFFF">
                    <a:alpha val="99000"/>
                  </a:srgbClr>
                </a:solidFill>
                <a:latin typeface="Titillium Web" pitchFamily="34" charset="0"/>
                <a:ea typeface="Titillium Web" pitchFamily="34" charset="-122"/>
                <a:cs typeface="Titillium Web" pitchFamily="34" charset="-120"/>
              </a:rPr>
              <a:t>, Good</a:t>
            </a:r>
            <a:r>
              <a:rPr lang="en-US" sz="525" b="1" dirty="0">
                <a:solidFill>
                  <a:srgbClr val="FFFFFF">
                    <a:alpha val="99000"/>
                  </a:srgbClr>
                </a:solidFill>
                <a:latin typeface="Titillium Web" pitchFamily="34" charset="0"/>
                <a:ea typeface="Titillium Web" pitchFamily="34" charset="-122"/>
                <a:cs typeface="Titillium Web" pitchFamily="34" charset="-120"/>
              </a:rPr>
              <a:t>  94%         </a:t>
            </a:r>
            <a:endParaRPr lang="en-US" sz="525" dirty="0"/>
          </a:p>
        </p:txBody>
      </p:sp>
      <p:sp>
        <p:nvSpPr>
          <p:cNvPr id="100" name="Text 83"/>
          <p:cNvSpPr/>
          <p:nvPr/>
        </p:nvSpPr>
        <p:spPr>
          <a:xfrm>
            <a:off x="3391192" y="4631531"/>
            <a:ext cx="1847850" cy="100013"/>
          </a:xfrm>
          <a:prstGeom prst="rect">
            <a:avLst/>
          </a:prstGeom>
          <a:noFill/>
          <a:ln/>
        </p:spPr>
        <p:txBody>
          <a:bodyPr wrap="square" rtlCol="0" anchor="ctr"/>
          <a:lstStyle/>
          <a:p>
            <a:pPr marL="0" indent="0" algn="ctr">
              <a:lnSpc>
                <a:spcPts val="799"/>
              </a:lnSpc>
              <a:buNone/>
            </a:pPr>
            <a:r>
              <a:rPr lang="en-US" sz="525" b="1" dirty="0">
                <a:solidFill>
                  <a:srgbClr val="FFFFFF">
                    <a:alpha val="99000"/>
                  </a:srgbClr>
                </a:solidFill>
                <a:latin typeface="Titillium Web" pitchFamily="34" charset="0"/>
                <a:ea typeface="Titillium Web" pitchFamily="34" charset="-122"/>
                <a:cs typeface="Titillium Web" pitchFamily="34" charset="-120"/>
              </a:rPr>
              <a:t>Sustainability Score</a:t>
            </a:r>
            <a:r>
              <a:rPr lang="en-US" sz="525" dirty="0">
                <a:solidFill>
                  <a:srgbClr val="FFFFFF">
                    <a:alpha val="99000"/>
                  </a:srgbClr>
                </a:solidFill>
                <a:latin typeface="Titillium Web" pitchFamily="34" charset="0"/>
                <a:ea typeface="Titillium Web" pitchFamily="34" charset="-122"/>
                <a:cs typeface="Titillium Web" pitchFamily="34" charset="-120"/>
              </a:rPr>
              <a:t> : Optimal</a:t>
            </a:r>
            <a:r>
              <a:rPr lang="en-US" sz="525" b="1" dirty="0">
                <a:solidFill>
                  <a:srgbClr val="FFFFFF">
                    <a:alpha val="99000"/>
                  </a:srgbClr>
                </a:solidFill>
                <a:latin typeface="Titillium Web" pitchFamily="34" charset="0"/>
                <a:ea typeface="Titillium Web" pitchFamily="34" charset="-122"/>
                <a:cs typeface="Titillium Web" pitchFamily="34" charset="-120"/>
              </a:rPr>
              <a:t> 91%        </a:t>
            </a:r>
            <a:r>
              <a:rPr lang="en-US" sz="525" dirty="0">
                <a:solidFill>
                  <a:srgbClr val="FFFFFF">
                    <a:alpha val="99000"/>
                  </a:srgbClr>
                </a:solidFill>
                <a:latin typeface="Titillium Web" pitchFamily="34" charset="0"/>
                <a:ea typeface="Titillium Web" pitchFamily="34" charset="-122"/>
                <a:cs typeface="Titillium Web" pitchFamily="34" charset="-120"/>
              </a:rPr>
              <a:t>, Good</a:t>
            </a:r>
            <a:r>
              <a:rPr lang="en-US" sz="525" b="1" dirty="0">
                <a:solidFill>
                  <a:srgbClr val="FFFFFF">
                    <a:alpha val="99000"/>
                  </a:srgbClr>
                </a:solidFill>
                <a:latin typeface="Titillium Web" pitchFamily="34" charset="0"/>
                <a:ea typeface="Titillium Web" pitchFamily="34" charset="-122"/>
                <a:cs typeface="Titillium Web" pitchFamily="34" charset="-120"/>
              </a:rPr>
              <a:t>  94%         </a:t>
            </a:r>
            <a:endParaRPr lang="en-US" sz="525" dirty="0"/>
          </a:p>
        </p:txBody>
      </p:sp>
      <p:sp>
        <p:nvSpPr>
          <p:cNvPr id="101" name="Text 84"/>
          <p:cNvSpPr/>
          <p:nvPr/>
        </p:nvSpPr>
        <p:spPr>
          <a:xfrm>
            <a:off x="1133475" y="581025"/>
            <a:ext cx="7596188" cy="257175"/>
          </a:xfrm>
          <a:prstGeom prst="rect">
            <a:avLst/>
          </a:prstGeom>
          <a:noFill/>
          <a:ln/>
        </p:spPr>
        <p:txBody>
          <a:bodyPr wrap="square" rtlCol="0" anchor="ctr"/>
          <a:lstStyle/>
          <a:p>
            <a:pPr marL="0" indent="0" algn="ctr">
              <a:lnSpc>
                <a:spcPts val="1027"/>
              </a:lnSpc>
              <a:buNone/>
            </a:pPr>
            <a:r>
              <a:rPr lang="en-US" sz="675" b="1" dirty="0">
                <a:solidFill>
                  <a:srgbClr val="FFFFFF">
                    <a:alpha val="99000"/>
                  </a:srgbClr>
                </a:solidFill>
                <a:latin typeface="Titillium Web" pitchFamily="34" charset="0"/>
                <a:ea typeface="Titillium Web" pitchFamily="34" charset="-122"/>
                <a:cs typeface="Titillium Web" pitchFamily="34" charset="-120"/>
              </a:rPr>
              <a:t>Modernizing AMD EPYC infrastructure can reduce annual spend from</a:t>
            </a:r>
            <a:r>
              <a:rPr lang="en-US" sz="600" b="1" dirty="0">
                <a:solidFill>
                  <a:srgbClr val="FFFFFF">
                    <a:alpha val="99000"/>
                  </a:srgbClr>
                </a:solidFill>
                <a:latin typeface="Titillium Web" pitchFamily="34" charset="0"/>
                <a:ea typeface="Titillium Web" pitchFamily="34" charset="-122"/>
                <a:cs typeface="Titillium Web" pitchFamily="34" charset="-120"/>
              </a:rPr>
              <a:t> </a:t>
            </a:r>
            <a:r>
              <a:rPr lang="en-US" sz="675" b="1" dirty="0">
                <a:solidFill>
                  <a:srgbClr val="FFFFFF">
                    <a:alpha val="99000"/>
                  </a:srgbClr>
                </a:solidFill>
                <a:latin typeface="Titillium Web" pitchFamily="34" charset="0"/>
                <a:ea typeface="Titillium Web" pitchFamily="34" charset="-122"/>
                <a:cs typeface="Titillium Web" pitchFamily="34" charset="-120"/>
              </a:rPr>
              <a:t>$2.5M (Current) to $1.2M (Optimal) with 50% savings per year or $1.96M (Good) 30% savings per year, delivering significant cost efficiency and sustainability benefits. All this while reducing power consumption by 30% and reducing carbon emissions by 24%</a:t>
            </a:r>
            <a:endParaRPr lang="en-US" sz="675" dirty="0"/>
          </a:p>
        </p:txBody>
      </p:sp>
      <p:sp>
        <p:nvSpPr>
          <p:cNvPr id="102" name="Text 85"/>
          <p:cNvSpPr/>
          <p:nvPr/>
        </p:nvSpPr>
        <p:spPr>
          <a:xfrm>
            <a:off x="7287215" y="4111610"/>
            <a:ext cx="623888" cy="114300"/>
          </a:xfrm>
          <a:prstGeom prst="rect">
            <a:avLst/>
          </a:prstGeom>
          <a:noFill/>
          <a:ln/>
        </p:spPr>
        <p:txBody>
          <a:bodyPr wrap="square" rtlCol="0" anchor="ctr"/>
          <a:lstStyle/>
          <a:p>
            <a:pPr marL="0" indent="0" algn="ctr">
              <a:lnSpc>
                <a:spcPts val="893"/>
              </a:lnSpc>
              <a:buNone/>
            </a:pPr>
            <a:r>
              <a:rPr lang="en-US" sz="587" b="1" dirty="0">
                <a:solidFill>
                  <a:srgbClr val="FFFFFF">
                    <a:alpha val="99000"/>
                  </a:srgbClr>
                </a:solidFill>
                <a:latin typeface="Titillium Web" pitchFamily="34" charset="0"/>
                <a:ea typeface="Titillium Web" pitchFamily="34" charset="-122"/>
                <a:cs typeface="Titillium Web" pitchFamily="34" charset="-120"/>
              </a:rPr>
              <a:t>Good</a:t>
            </a:r>
            <a:endParaRPr lang="en-US" sz="587" dirty="0"/>
          </a:p>
        </p:txBody>
      </p:sp>
      <p:sp>
        <p:nvSpPr>
          <p:cNvPr id="103" name="Text 86"/>
          <p:cNvSpPr/>
          <p:nvPr/>
        </p:nvSpPr>
        <p:spPr>
          <a:xfrm>
            <a:off x="7567232" y="4225816"/>
            <a:ext cx="1739106" cy="581025"/>
          </a:xfrm>
          <a:prstGeom prst="rect">
            <a:avLst/>
          </a:prstGeom>
          <a:noFill/>
          <a:ln/>
        </p:spPr>
        <p:txBody>
          <a:bodyPr wrap="square" rtlCol="0" anchor="ctr"/>
          <a:lstStyle/>
          <a:p>
            <a:pPr marL="0" indent="0" algn="l">
              <a:lnSpc>
                <a:spcPts val="1138"/>
              </a:lnSpc>
              <a:buNone/>
            </a:pPr>
            <a:r>
              <a:rPr lang="en-US" sz="514" b="1" dirty="0">
                <a:solidFill>
                  <a:srgbClr val="FFFFFF">
                    <a:alpha val="99000"/>
                  </a:srgbClr>
                </a:solidFill>
                <a:latin typeface="Titillium Web" pitchFamily="34" charset="0"/>
                <a:ea typeface="Titillium Web" pitchFamily="34" charset="-122"/>
                <a:cs typeface="Titillium Web" pitchFamily="34" charset="-120"/>
              </a:rPr>
              <a:t>Cost:</a:t>
            </a:r>
            <a:r>
              <a:rPr lang="en-US" sz="514" dirty="0">
                <a:solidFill>
                  <a:srgbClr val="FFFFFF">
                    <a:alpha val="99000"/>
                  </a:srgbClr>
                </a:solidFill>
                <a:latin typeface="Titillium Web" pitchFamily="34" charset="0"/>
                <a:ea typeface="Titillium Web" pitchFamily="34" charset="-122"/>
                <a:cs typeface="Titillium Web" pitchFamily="34" charset="-120"/>
              </a:rPr>
              <a:t>         $13.03k (46.24% lower cost)</a:t>
            </a:r>
            <a:endParaRPr lang="en-US" sz="514" dirty="0"/>
          </a:p>
          <a:p>
            <a:pPr marL="0" indent="0" algn="l">
              <a:lnSpc>
                <a:spcPts val="1138"/>
              </a:lnSpc>
              <a:buNone/>
            </a:pPr>
            <a:r>
              <a:rPr lang="en-US" sz="514" b="1" dirty="0">
                <a:solidFill>
                  <a:srgbClr val="FFFFFF">
                    <a:alpha val="99000"/>
                  </a:srgbClr>
                </a:solidFill>
                <a:latin typeface="Titillium Web" pitchFamily="34" charset="0"/>
                <a:ea typeface="Titillium Web" pitchFamily="34" charset="-122"/>
                <a:cs typeface="Titillium Web" pitchFamily="34" charset="-120"/>
              </a:rPr>
              <a:t>Power:</a:t>
            </a:r>
            <a:r>
              <a:rPr lang="en-US" sz="514" dirty="0">
                <a:solidFill>
                  <a:srgbClr val="FFFFFF">
                    <a:alpha val="99000"/>
                  </a:srgbClr>
                </a:solidFill>
                <a:latin typeface="Titillium Web" pitchFamily="34" charset="0"/>
                <a:ea typeface="Titillium Web" pitchFamily="34" charset="-122"/>
                <a:cs typeface="Titillium Web" pitchFamily="34" charset="-120"/>
              </a:rPr>
              <a:t>     38.44 kW (46.40% lower power)</a:t>
            </a:r>
            <a:endParaRPr lang="en-US" sz="514" dirty="0"/>
          </a:p>
          <a:p>
            <a:pPr marL="0" indent="0" algn="l">
              <a:lnSpc>
                <a:spcPts val="1138"/>
              </a:lnSpc>
              <a:buNone/>
            </a:pPr>
            <a:r>
              <a:rPr lang="en-US" sz="514" b="1" dirty="0">
                <a:solidFill>
                  <a:srgbClr val="FFFFFF">
                    <a:alpha val="99000"/>
                  </a:srgbClr>
                </a:solidFill>
                <a:latin typeface="Titillium Web" pitchFamily="34" charset="0"/>
                <a:ea typeface="Titillium Web" pitchFamily="34" charset="-122"/>
                <a:cs typeface="Titillium Web" pitchFamily="34" charset="-120"/>
              </a:rPr>
              <a:t>Carbon:</a:t>
            </a:r>
            <a:r>
              <a:rPr lang="en-US" sz="514" dirty="0">
                <a:solidFill>
                  <a:srgbClr val="FFFFFF">
                    <a:alpha val="99000"/>
                  </a:srgbClr>
                </a:solidFill>
                <a:latin typeface="Titillium Web" pitchFamily="34" charset="0"/>
                <a:ea typeface="Titillium Web" pitchFamily="34" charset="-122"/>
                <a:cs typeface="Titillium Web" pitchFamily="34" charset="-120"/>
              </a:rPr>
              <a:t>    49.56 kgCO₂eq (46.50% lower </a:t>
            </a:r>
          </a:p>
          <a:p>
            <a:pPr marL="0" indent="0" algn="l">
              <a:lnSpc>
                <a:spcPts val="1138"/>
              </a:lnSpc>
              <a:buNone/>
            </a:pPr>
            <a:r>
              <a:rPr lang="en-US" sz="514" dirty="0">
                <a:solidFill>
                  <a:srgbClr val="FFFFFF">
                    <a:alpha val="99000"/>
                  </a:srgbClr>
                </a:solidFill>
                <a:latin typeface="Titillium Web" pitchFamily="34" charset="0"/>
                <a:ea typeface="Titillium Web" pitchFamily="34" charset="-122"/>
                <a:cs typeface="Titillium Web" pitchFamily="34" charset="-120"/>
              </a:rPr>
              <a:t>carbon emission)</a:t>
            </a:r>
            <a:endParaRPr lang="en-US" sz="514" dirty="0"/>
          </a:p>
        </p:txBody>
      </p:sp>
      <p:sp>
        <p:nvSpPr>
          <p:cNvPr id="104" name="Text 87"/>
          <p:cNvSpPr/>
          <p:nvPr/>
        </p:nvSpPr>
        <p:spPr>
          <a:xfrm>
            <a:off x="7287215" y="3319159"/>
            <a:ext cx="714375" cy="114300"/>
          </a:xfrm>
          <a:prstGeom prst="rect">
            <a:avLst/>
          </a:prstGeom>
          <a:noFill/>
          <a:ln/>
        </p:spPr>
        <p:txBody>
          <a:bodyPr wrap="square" rtlCol="0" anchor="ctr"/>
          <a:lstStyle/>
          <a:p>
            <a:pPr marL="0" indent="0" algn="ctr">
              <a:lnSpc>
                <a:spcPts val="893"/>
              </a:lnSpc>
              <a:buNone/>
            </a:pPr>
            <a:r>
              <a:rPr lang="en-US" sz="587" b="1" dirty="0">
                <a:solidFill>
                  <a:srgbClr val="FFFFFF">
                    <a:alpha val="99000"/>
                  </a:srgbClr>
                </a:solidFill>
                <a:latin typeface="Titillium Web" pitchFamily="34" charset="0"/>
                <a:ea typeface="Titillium Web" pitchFamily="34" charset="-122"/>
                <a:cs typeface="Titillium Web" pitchFamily="34" charset="-120"/>
              </a:rPr>
              <a:t>Optimal</a:t>
            </a:r>
            <a:endParaRPr lang="en-US" sz="587" dirty="0"/>
          </a:p>
        </p:txBody>
      </p:sp>
      <p:sp>
        <p:nvSpPr>
          <p:cNvPr id="105" name="Text 88"/>
          <p:cNvSpPr/>
          <p:nvPr/>
        </p:nvSpPr>
        <p:spPr>
          <a:xfrm>
            <a:off x="7567232" y="3433763"/>
            <a:ext cx="1738313" cy="581025"/>
          </a:xfrm>
          <a:prstGeom prst="rect">
            <a:avLst/>
          </a:prstGeom>
          <a:noFill/>
          <a:ln/>
        </p:spPr>
        <p:txBody>
          <a:bodyPr wrap="square" rtlCol="0" anchor="ctr"/>
          <a:lstStyle/>
          <a:p>
            <a:pPr marL="0" indent="0" algn="l">
              <a:lnSpc>
                <a:spcPts val="1138"/>
              </a:lnSpc>
              <a:buNone/>
            </a:pPr>
            <a:r>
              <a:rPr lang="en-US" sz="514" b="1" dirty="0">
                <a:solidFill>
                  <a:srgbClr val="FFFFFF">
                    <a:alpha val="99000"/>
                  </a:srgbClr>
                </a:solidFill>
                <a:latin typeface="Titillium Web" pitchFamily="34" charset="0"/>
                <a:ea typeface="Titillium Web" pitchFamily="34" charset="-122"/>
                <a:cs typeface="Titillium Web" pitchFamily="34" charset="-120"/>
              </a:rPr>
              <a:t>Cost:</a:t>
            </a:r>
            <a:r>
              <a:rPr lang="en-US" sz="514" dirty="0">
                <a:solidFill>
                  <a:srgbClr val="FFFFFF">
                    <a:alpha val="99000"/>
                  </a:srgbClr>
                </a:solidFill>
                <a:latin typeface="Titillium Web" pitchFamily="34" charset="0"/>
                <a:ea typeface="Titillium Web" pitchFamily="34" charset="-122"/>
                <a:cs typeface="Titillium Web" pitchFamily="34" charset="-120"/>
              </a:rPr>
              <a:t>         $4.34k (83.52% lower cost)</a:t>
            </a:r>
            <a:endParaRPr lang="en-US" sz="514" dirty="0"/>
          </a:p>
          <a:p>
            <a:pPr marL="0" indent="0" algn="l">
              <a:lnSpc>
                <a:spcPts val="1138"/>
              </a:lnSpc>
              <a:buNone/>
            </a:pPr>
            <a:r>
              <a:rPr lang="en-US" sz="514" b="1" dirty="0">
                <a:solidFill>
                  <a:srgbClr val="FFFFFF">
                    <a:alpha val="99000"/>
                  </a:srgbClr>
                </a:solidFill>
                <a:latin typeface="Titillium Web" pitchFamily="34" charset="0"/>
                <a:ea typeface="Titillium Web" pitchFamily="34" charset="-122"/>
                <a:cs typeface="Titillium Web" pitchFamily="34" charset="-120"/>
              </a:rPr>
              <a:t>Power:</a:t>
            </a:r>
            <a:r>
              <a:rPr lang="en-US" sz="514" dirty="0">
                <a:solidFill>
                  <a:srgbClr val="FFFFFF">
                    <a:alpha val="99000"/>
                  </a:srgbClr>
                </a:solidFill>
                <a:latin typeface="Titillium Web" pitchFamily="34" charset="0"/>
                <a:ea typeface="Titillium Web" pitchFamily="34" charset="-122"/>
                <a:cs typeface="Titillium Web" pitchFamily="34" charset="-120"/>
              </a:rPr>
              <a:t>     6.15 kW (91.45% lower power)</a:t>
            </a:r>
            <a:endParaRPr lang="en-US" sz="514" dirty="0"/>
          </a:p>
          <a:p>
            <a:pPr marL="0" indent="0" algn="l">
              <a:lnSpc>
                <a:spcPts val="1138"/>
              </a:lnSpc>
              <a:buNone/>
            </a:pPr>
            <a:r>
              <a:rPr lang="en-US" sz="514" b="1" dirty="0">
                <a:solidFill>
                  <a:srgbClr val="FFFFFF">
                    <a:alpha val="99000"/>
                  </a:srgbClr>
                </a:solidFill>
                <a:latin typeface="Titillium Web" pitchFamily="34" charset="0"/>
                <a:ea typeface="Titillium Web" pitchFamily="34" charset="-122"/>
                <a:cs typeface="Titillium Web" pitchFamily="34" charset="-120"/>
              </a:rPr>
              <a:t>Carbon:</a:t>
            </a:r>
            <a:r>
              <a:rPr lang="en-US" sz="514" dirty="0">
                <a:solidFill>
                  <a:srgbClr val="FFFFFF">
                    <a:alpha val="99000"/>
                  </a:srgbClr>
                </a:solidFill>
                <a:latin typeface="Titillium Web" pitchFamily="34" charset="0"/>
                <a:ea typeface="Titillium Web" pitchFamily="34" charset="-122"/>
                <a:cs typeface="Titillium Web" pitchFamily="34" charset="-120"/>
              </a:rPr>
              <a:t>    7.89 kgCO₂eq (92.45% lower </a:t>
            </a:r>
          </a:p>
          <a:p>
            <a:pPr marL="0" indent="0" algn="l">
              <a:lnSpc>
                <a:spcPts val="1138"/>
              </a:lnSpc>
              <a:buNone/>
            </a:pPr>
            <a:r>
              <a:rPr lang="en-US" sz="514" dirty="0">
                <a:solidFill>
                  <a:srgbClr val="FFFFFF">
                    <a:alpha val="99000"/>
                  </a:srgbClr>
                </a:solidFill>
                <a:latin typeface="Titillium Web" pitchFamily="34" charset="0"/>
                <a:ea typeface="Titillium Web" pitchFamily="34" charset="-122"/>
                <a:cs typeface="Titillium Web" pitchFamily="34" charset="-120"/>
              </a:rPr>
              <a:t>carbon emission)</a:t>
            </a:r>
            <a:endParaRPr lang="en-US" sz="514" dirty="0"/>
          </a:p>
        </p:txBody>
      </p:sp>
      <p:sp>
        <p:nvSpPr>
          <p:cNvPr id="106" name="Text 89"/>
          <p:cNvSpPr/>
          <p:nvPr/>
        </p:nvSpPr>
        <p:spPr>
          <a:xfrm>
            <a:off x="5174977" y="4105275"/>
            <a:ext cx="6048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Good</a:t>
            </a:r>
            <a:endParaRPr lang="en-US" sz="525" dirty="0"/>
          </a:p>
        </p:txBody>
      </p:sp>
      <p:sp>
        <p:nvSpPr>
          <p:cNvPr id="107" name="Text 90"/>
          <p:cNvSpPr/>
          <p:nvPr/>
        </p:nvSpPr>
        <p:spPr>
          <a:xfrm>
            <a:off x="5141640" y="3390900"/>
            <a:ext cx="666750"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Current</a:t>
            </a:r>
            <a:endParaRPr lang="en-US" sz="525" dirty="0"/>
          </a:p>
        </p:txBody>
      </p:sp>
      <p:sp>
        <p:nvSpPr>
          <p:cNvPr id="108" name="Text 91"/>
          <p:cNvSpPr/>
          <p:nvPr/>
        </p:nvSpPr>
        <p:spPr>
          <a:xfrm>
            <a:off x="5136877" y="3748087"/>
            <a:ext cx="6810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Optimal</a:t>
            </a:r>
            <a:endParaRPr lang="en-US" sz="525" dirty="0"/>
          </a:p>
        </p:txBody>
      </p:sp>
      <p:sp>
        <p:nvSpPr>
          <p:cNvPr id="109" name="Text 92"/>
          <p:cNvSpPr/>
          <p:nvPr/>
        </p:nvSpPr>
        <p:spPr>
          <a:xfrm>
            <a:off x="5317852" y="4362450"/>
            <a:ext cx="5857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0.00</a:t>
            </a:r>
            <a:endParaRPr lang="en-US" sz="525" dirty="0"/>
          </a:p>
        </p:txBody>
      </p:sp>
      <p:sp>
        <p:nvSpPr>
          <p:cNvPr id="110" name="Text 93"/>
          <p:cNvSpPr/>
          <p:nvPr/>
        </p:nvSpPr>
        <p:spPr>
          <a:xfrm>
            <a:off x="5617890" y="4362450"/>
            <a:ext cx="6238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20.00</a:t>
            </a:r>
            <a:endParaRPr lang="en-US" sz="525" dirty="0"/>
          </a:p>
        </p:txBody>
      </p:sp>
      <p:sp>
        <p:nvSpPr>
          <p:cNvPr id="111" name="Text 94"/>
          <p:cNvSpPr/>
          <p:nvPr/>
        </p:nvSpPr>
        <p:spPr>
          <a:xfrm>
            <a:off x="5946502" y="4362450"/>
            <a:ext cx="6238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40.00</a:t>
            </a:r>
            <a:endParaRPr lang="en-US" sz="525" dirty="0"/>
          </a:p>
        </p:txBody>
      </p:sp>
      <p:sp>
        <p:nvSpPr>
          <p:cNvPr id="112" name="Text 95"/>
          <p:cNvSpPr/>
          <p:nvPr/>
        </p:nvSpPr>
        <p:spPr>
          <a:xfrm>
            <a:off x="6265590" y="4362450"/>
            <a:ext cx="6238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60.00</a:t>
            </a:r>
            <a:endParaRPr lang="en-US" sz="525" dirty="0"/>
          </a:p>
        </p:txBody>
      </p:sp>
      <p:sp>
        <p:nvSpPr>
          <p:cNvPr id="113" name="Text 96"/>
          <p:cNvSpPr/>
          <p:nvPr/>
        </p:nvSpPr>
        <p:spPr>
          <a:xfrm>
            <a:off x="6594202" y="4362450"/>
            <a:ext cx="6238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80.00</a:t>
            </a:r>
            <a:endParaRPr lang="en-US" sz="525" dirty="0"/>
          </a:p>
        </p:txBody>
      </p:sp>
      <p:sp>
        <p:nvSpPr>
          <p:cNvPr id="114" name="Text 97"/>
          <p:cNvSpPr/>
          <p:nvPr/>
        </p:nvSpPr>
        <p:spPr>
          <a:xfrm>
            <a:off x="6894240" y="4362450"/>
            <a:ext cx="6619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100.00</a:t>
            </a:r>
            <a:endParaRPr lang="en-US" sz="525" dirty="0"/>
          </a:p>
        </p:txBody>
      </p:sp>
      <p:sp>
        <p:nvSpPr>
          <p:cNvPr id="115" name="Text 98"/>
          <p:cNvSpPr/>
          <p:nvPr/>
        </p:nvSpPr>
        <p:spPr>
          <a:xfrm>
            <a:off x="3012802" y="4105275"/>
            <a:ext cx="6048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Good</a:t>
            </a:r>
            <a:endParaRPr lang="en-US" sz="525" dirty="0"/>
          </a:p>
        </p:txBody>
      </p:sp>
      <p:sp>
        <p:nvSpPr>
          <p:cNvPr id="116" name="Text 99"/>
          <p:cNvSpPr/>
          <p:nvPr/>
        </p:nvSpPr>
        <p:spPr>
          <a:xfrm>
            <a:off x="3293790" y="4105275"/>
            <a:ext cx="623888"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38.44</a:t>
            </a:r>
            <a:endParaRPr lang="en-US" sz="525" dirty="0"/>
          </a:p>
        </p:txBody>
      </p:sp>
      <p:sp>
        <p:nvSpPr>
          <p:cNvPr id="117" name="Text 100"/>
          <p:cNvSpPr/>
          <p:nvPr/>
        </p:nvSpPr>
        <p:spPr>
          <a:xfrm>
            <a:off x="2979465" y="3390900"/>
            <a:ext cx="666750"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Current</a:t>
            </a:r>
            <a:endParaRPr lang="en-US" sz="525" dirty="0"/>
          </a:p>
        </p:txBody>
      </p:sp>
      <p:sp>
        <p:nvSpPr>
          <p:cNvPr id="118" name="Text 101"/>
          <p:cNvSpPr/>
          <p:nvPr/>
        </p:nvSpPr>
        <p:spPr>
          <a:xfrm>
            <a:off x="4617765" y="3390900"/>
            <a:ext cx="661988"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698.09</a:t>
            </a:r>
            <a:endParaRPr lang="en-US" sz="525" dirty="0"/>
          </a:p>
        </p:txBody>
      </p:sp>
      <p:sp>
        <p:nvSpPr>
          <p:cNvPr id="119" name="Text 102"/>
          <p:cNvSpPr/>
          <p:nvPr/>
        </p:nvSpPr>
        <p:spPr>
          <a:xfrm>
            <a:off x="3341415" y="3743325"/>
            <a:ext cx="623888"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61.05</a:t>
            </a:r>
            <a:endParaRPr lang="en-US" sz="525" dirty="0"/>
          </a:p>
        </p:txBody>
      </p:sp>
      <p:sp>
        <p:nvSpPr>
          <p:cNvPr id="120" name="Text 103"/>
          <p:cNvSpPr/>
          <p:nvPr/>
        </p:nvSpPr>
        <p:spPr>
          <a:xfrm>
            <a:off x="2974702" y="3743325"/>
            <a:ext cx="6810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Optimal</a:t>
            </a:r>
            <a:endParaRPr lang="en-US" sz="525" dirty="0"/>
          </a:p>
        </p:txBody>
      </p:sp>
      <p:sp>
        <p:nvSpPr>
          <p:cNvPr id="121" name="Text 104"/>
          <p:cNvSpPr/>
          <p:nvPr/>
        </p:nvSpPr>
        <p:spPr>
          <a:xfrm>
            <a:off x="3155677" y="4362450"/>
            <a:ext cx="5857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0.00</a:t>
            </a:r>
            <a:endParaRPr lang="en-US" sz="525" dirty="0"/>
          </a:p>
        </p:txBody>
      </p:sp>
      <p:sp>
        <p:nvSpPr>
          <p:cNvPr id="122" name="Text 105"/>
          <p:cNvSpPr/>
          <p:nvPr/>
        </p:nvSpPr>
        <p:spPr>
          <a:xfrm>
            <a:off x="3517627" y="4362450"/>
            <a:ext cx="6619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200.00</a:t>
            </a:r>
            <a:endParaRPr lang="en-US" sz="525" dirty="0"/>
          </a:p>
        </p:txBody>
      </p:sp>
      <p:sp>
        <p:nvSpPr>
          <p:cNvPr id="123" name="Text 106"/>
          <p:cNvSpPr/>
          <p:nvPr/>
        </p:nvSpPr>
        <p:spPr>
          <a:xfrm>
            <a:off x="3922440" y="4362450"/>
            <a:ext cx="6619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400.00</a:t>
            </a:r>
            <a:endParaRPr lang="en-US" sz="525" dirty="0"/>
          </a:p>
        </p:txBody>
      </p:sp>
      <p:sp>
        <p:nvSpPr>
          <p:cNvPr id="124" name="Text 107"/>
          <p:cNvSpPr/>
          <p:nvPr/>
        </p:nvSpPr>
        <p:spPr>
          <a:xfrm>
            <a:off x="4327252" y="4362450"/>
            <a:ext cx="6619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600.00</a:t>
            </a:r>
            <a:endParaRPr lang="en-US" sz="525" dirty="0"/>
          </a:p>
        </p:txBody>
      </p:sp>
      <p:sp>
        <p:nvSpPr>
          <p:cNvPr id="125" name="Text 108"/>
          <p:cNvSpPr/>
          <p:nvPr/>
        </p:nvSpPr>
        <p:spPr>
          <a:xfrm>
            <a:off x="4732065" y="4362450"/>
            <a:ext cx="6619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800.00</a:t>
            </a:r>
            <a:endParaRPr lang="en-US" sz="525" dirty="0"/>
          </a:p>
        </p:txBody>
      </p:sp>
      <p:sp>
        <p:nvSpPr>
          <p:cNvPr id="126" name="Text 109"/>
          <p:cNvSpPr/>
          <p:nvPr/>
        </p:nvSpPr>
        <p:spPr>
          <a:xfrm>
            <a:off x="31433" y="4648200"/>
            <a:ext cx="495300"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0</a:t>
            </a:r>
            <a:endParaRPr lang="en-US" sz="525" dirty="0"/>
          </a:p>
        </p:txBody>
      </p:sp>
      <p:sp>
        <p:nvSpPr>
          <p:cNvPr id="127" name="Text 110"/>
          <p:cNvSpPr/>
          <p:nvPr/>
        </p:nvSpPr>
        <p:spPr>
          <a:xfrm>
            <a:off x="428625" y="4762500"/>
            <a:ext cx="695325"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c6i.large</a:t>
            </a:r>
            <a:endParaRPr lang="en-US" sz="525" dirty="0"/>
          </a:p>
        </p:txBody>
      </p:sp>
      <p:sp>
        <p:nvSpPr>
          <p:cNvPr id="128" name="Text 111"/>
          <p:cNvSpPr/>
          <p:nvPr/>
        </p:nvSpPr>
        <p:spPr>
          <a:xfrm>
            <a:off x="1314450" y="4762500"/>
            <a:ext cx="6810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Next 10</a:t>
            </a:r>
            <a:endParaRPr lang="en-US" sz="525" dirty="0"/>
          </a:p>
        </p:txBody>
      </p:sp>
      <p:sp>
        <p:nvSpPr>
          <p:cNvPr id="129" name="Text 112"/>
          <p:cNvSpPr/>
          <p:nvPr/>
        </p:nvSpPr>
        <p:spPr>
          <a:xfrm>
            <a:off x="2228850" y="4762500"/>
            <a:ext cx="58578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Rest</a:t>
            </a:r>
            <a:endParaRPr lang="en-US" sz="525" dirty="0"/>
          </a:p>
        </p:txBody>
      </p:sp>
      <p:sp>
        <p:nvSpPr>
          <p:cNvPr id="130" name="Text 113"/>
          <p:cNvSpPr/>
          <p:nvPr/>
        </p:nvSpPr>
        <p:spPr>
          <a:xfrm>
            <a:off x="12383" y="4310063"/>
            <a:ext cx="533400"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25</a:t>
            </a:r>
            <a:endParaRPr lang="en-US" sz="525" dirty="0"/>
          </a:p>
        </p:txBody>
      </p:sp>
      <p:sp>
        <p:nvSpPr>
          <p:cNvPr id="131" name="Text 114"/>
          <p:cNvSpPr/>
          <p:nvPr/>
        </p:nvSpPr>
        <p:spPr>
          <a:xfrm>
            <a:off x="12383" y="3971925"/>
            <a:ext cx="533400"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50</a:t>
            </a:r>
            <a:endParaRPr lang="en-US" sz="525" dirty="0"/>
          </a:p>
        </p:txBody>
      </p:sp>
      <p:sp>
        <p:nvSpPr>
          <p:cNvPr id="132" name="Text 115"/>
          <p:cNvSpPr/>
          <p:nvPr/>
        </p:nvSpPr>
        <p:spPr>
          <a:xfrm>
            <a:off x="12383" y="3633788"/>
            <a:ext cx="533400"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75</a:t>
            </a:r>
            <a:endParaRPr lang="en-US" sz="525" dirty="0"/>
          </a:p>
        </p:txBody>
      </p:sp>
      <p:sp>
        <p:nvSpPr>
          <p:cNvPr id="133" name="Text 116"/>
          <p:cNvSpPr/>
          <p:nvPr/>
        </p:nvSpPr>
        <p:spPr>
          <a:xfrm>
            <a:off x="-6667" y="3295650"/>
            <a:ext cx="571500"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100</a:t>
            </a:r>
            <a:endParaRPr lang="en-US" sz="525" dirty="0"/>
          </a:p>
        </p:txBody>
      </p:sp>
      <p:sp>
        <p:nvSpPr>
          <p:cNvPr id="134" name="Text 117"/>
          <p:cNvSpPr/>
          <p:nvPr/>
        </p:nvSpPr>
        <p:spPr>
          <a:xfrm>
            <a:off x="490538" y="3243263"/>
            <a:ext cx="571500"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100</a:t>
            </a:r>
            <a:endParaRPr lang="en-US" sz="525" dirty="0"/>
          </a:p>
        </p:txBody>
      </p:sp>
      <p:sp>
        <p:nvSpPr>
          <p:cNvPr id="135" name="Text 118"/>
          <p:cNvSpPr/>
          <p:nvPr/>
        </p:nvSpPr>
        <p:spPr>
          <a:xfrm>
            <a:off x="1409700" y="4591050"/>
            <a:ext cx="495300"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0</a:t>
            </a:r>
            <a:endParaRPr lang="en-US" sz="525" dirty="0"/>
          </a:p>
        </p:txBody>
      </p:sp>
      <p:sp>
        <p:nvSpPr>
          <p:cNvPr id="136" name="Text 119"/>
          <p:cNvSpPr/>
          <p:nvPr/>
        </p:nvSpPr>
        <p:spPr>
          <a:xfrm>
            <a:off x="2276475" y="4572000"/>
            <a:ext cx="495300"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0</a:t>
            </a:r>
            <a:endParaRPr lang="en-US" sz="525" dirty="0"/>
          </a:p>
        </p:txBody>
      </p:sp>
      <p:sp>
        <p:nvSpPr>
          <p:cNvPr id="137" name="Text 120"/>
          <p:cNvSpPr/>
          <p:nvPr/>
        </p:nvSpPr>
        <p:spPr>
          <a:xfrm>
            <a:off x="103061" y="2995613"/>
            <a:ext cx="1838325" cy="176213"/>
          </a:xfrm>
          <a:prstGeom prst="rect">
            <a:avLst/>
          </a:prstGeom>
          <a:noFill/>
          <a:ln/>
        </p:spPr>
        <p:txBody>
          <a:bodyPr wrap="square" rtlCol="0" anchor="ctr"/>
          <a:lstStyle/>
          <a:p>
            <a:pPr marL="0" indent="0" algn="l">
              <a:lnSpc>
                <a:spcPts val="1369"/>
              </a:lnSpc>
              <a:buNone/>
            </a:pPr>
            <a:r>
              <a:rPr lang="en-US" sz="900" b="1" dirty="0">
                <a:solidFill>
                  <a:srgbClr val="FFFFFF">
                    <a:alpha val="99000"/>
                  </a:srgbClr>
                </a:solidFill>
                <a:latin typeface="Titillium Web" pitchFamily="34" charset="0"/>
                <a:ea typeface="Titillium Web" pitchFamily="34" charset="-122"/>
                <a:cs typeface="Titillium Web" pitchFamily="34" charset="-120"/>
              </a:rPr>
              <a:t>Dollar Spend Distribution (%)</a:t>
            </a:r>
            <a:endParaRPr lang="en-US" sz="900" dirty="0"/>
          </a:p>
        </p:txBody>
      </p:sp>
      <p:sp>
        <p:nvSpPr>
          <p:cNvPr id="138" name="Text 121"/>
          <p:cNvSpPr/>
          <p:nvPr/>
        </p:nvSpPr>
        <p:spPr>
          <a:xfrm>
            <a:off x="3007360" y="2581275"/>
            <a:ext cx="495300"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0</a:t>
            </a:r>
            <a:endParaRPr lang="en-US" sz="525" dirty="0"/>
          </a:p>
        </p:txBody>
      </p:sp>
      <p:sp>
        <p:nvSpPr>
          <p:cNvPr id="139" name="Text 122"/>
          <p:cNvSpPr/>
          <p:nvPr/>
        </p:nvSpPr>
        <p:spPr>
          <a:xfrm>
            <a:off x="3464560" y="2705100"/>
            <a:ext cx="666750"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Current </a:t>
            </a:r>
            <a:endParaRPr lang="en-US" sz="525" dirty="0"/>
          </a:p>
        </p:txBody>
      </p:sp>
      <p:sp>
        <p:nvSpPr>
          <p:cNvPr id="140" name="Text 123"/>
          <p:cNvSpPr/>
          <p:nvPr/>
        </p:nvSpPr>
        <p:spPr>
          <a:xfrm>
            <a:off x="4340860" y="2700338"/>
            <a:ext cx="6810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Optimal</a:t>
            </a:r>
            <a:endParaRPr lang="en-US" sz="525" dirty="0"/>
          </a:p>
        </p:txBody>
      </p:sp>
      <p:sp>
        <p:nvSpPr>
          <p:cNvPr id="141" name="Text 124"/>
          <p:cNvSpPr/>
          <p:nvPr/>
        </p:nvSpPr>
        <p:spPr>
          <a:xfrm>
            <a:off x="5269548" y="2700338"/>
            <a:ext cx="6048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Good</a:t>
            </a:r>
            <a:endParaRPr lang="en-US" sz="525" dirty="0"/>
          </a:p>
        </p:txBody>
      </p:sp>
      <p:sp>
        <p:nvSpPr>
          <p:cNvPr id="142" name="Text 125"/>
          <p:cNvSpPr/>
          <p:nvPr/>
        </p:nvSpPr>
        <p:spPr>
          <a:xfrm>
            <a:off x="2974023" y="2281238"/>
            <a:ext cx="5667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1 M</a:t>
            </a:r>
            <a:endParaRPr lang="en-US" sz="525" dirty="0"/>
          </a:p>
        </p:txBody>
      </p:sp>
      <p:sp>
        <p:nvSpPr>
          <p:cNvPr id="143" name="Text 126"/>
          <p:cNvSpPr/>
          <p:nvPr/>
        </p:nvSpPr>
        <p:spPr>
          <a:xfrm>
            <a:off x="2974023" y="1981200"/>
            <a:ext cx="5667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2 M</a:t>
            </a:r>
            <a:endParaRPr lang="en-US" sz="525" dirty="0"/>
          </a:p>
        </p:txBody>
      </p:sp>
      <p:sp>
        <p:nvSpPr>
          <p:cNvPr id="144" name="Text 127"/>
          <p:cNvSpPr/>
          <p:nvPr/>
        </p:nvSpPr>
        <p:spPr>
          <a:xfrm>
            <a:off x="2974023" y="1681163"/>
            <a:ext cx="5667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3 M</a:t>
            </a:r>
            <a:endParaRPr lang="en-US" sz="525" dirty="0"/>
          </a:p>
        </p:txBody>
      </p:sp>
      <p:sp>
        <p:nvSpPr>
          <p:cNvPr id="145" name="Text 128"/>
          <p:cNvSpPr/>
          <p:nvPr/>
        </p:nvSpPr>
        <p:spPr>
          <a:xfrm>
            <a:off x="2974023" y="1381125"/>
            <a:ext cx="566738" cy="100013"/>
          </a:xfrm>
          <a:prstGeom prst="rect">
            <a:avLst/>
          </a:prstGeom>
          <a:noFill/>
          <a:ln/>
        </p:spPr>
        <p:txBody>
          <a:bodyPr wrap="square" rtlCol="0" anchor="ctr"/>
          <a:lstStyle/>
          <a:p>
            <a:pPr marL="0" indent="0" algn="ctr">
              <a:lnSpc>
                <a:spcPts val="799"/>
              </a:lnSpc>
              <a:buNone/>
            </a:pPr>
            <a:r>
              <a:rPr lang="en-US" sz="525" dirty="0">
                <a:solidFill>
                  <a:srgbClr val="E5E5E5">
                    <a:alpha val="99000"/>
                  </a:srgbClr>
                </a:solidFill>
                <a:latin typeface="Titillium Web" pitchFamily="34" charset="0"/>
                <a:ea typeface="Titillium Web" pitchFamily="34" charset="-122"/>
                <a:cs typeface="Titillium Web" pitchFamily="34" charset="-120"/>
              </a:rPr>
              <a:t>4 M</a:t>
            </a:r>
            <a:endParaRPr lang="en-US" sz="525" dirty="0"/>
          </a:p>
        </p:txBody>
      </p:sp>
      <p:sp>
        <p:nvSpPr>
          <p:cNvPr id="146" name="Text 129"/>
          <p:cNvSpPr/>
          <p:nvPr/>
        </p:nvSpPr>
        <p:spPr>
          <a:xfrm>
            <a:off x="3440747" y="1709738"/>
            <a:ext cx="676275"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$ 2.4 M</a:t>
            </a:r>
            <a:endParaRPr lang="en-US" sz="525" dirty="0"/>
          </a:p>
        </p:txBody>
      </p:sp>
      <p:sp>
        <p:nvSpPr>
          <p:cNvPr id="147" name="Text 130"/>
          <p:cNvSpPr/>
          <p:nvPr/>
        </p:nvSpPr>
        <p:spPr>
          <a:xfrm>
            <a:off x="4331335" y="2105025"/>
            <a:ext cx="676275"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$ 1.2 M</a:t>
            </a:r>
            <a:endParaRPr lang="en-US" sz="525" dirty="0"/>
          </a:p>
        </p:txBody>
      </p:sp>
      <p:sp>
        <p:nvSpPr>
          <p:cNvPr id="148" name="Text 131"/>
          <p:cNvSpPr/>
          <p:nvPr/>
        </p:nvSpPr>
        <p:spPr>
          <a:xfrm>
            <a:off x="5212398" y="1866900"/>
            <a:ext cx="714375" cy="100013"/>
          </a:xfrm>
          <a:prstGeom prst="rect">
            <a:avLst/>
          </a:prstGeom>
          <a:noFill/>
          <a:ln/>
        </p:spPr>
        <p:txBody>
          <a:bodyPr wrap="square" rtlCol="0" anchor="ctr"/>
          <a:lstStyle/>
          <a:p>
            <a:pPr marL="0" indent="0" algn="ctr">
              <a:lnSpc>
                <a:spcPts val="799"/>
              </a:lnSpc>
              <a:buNone/>
            </a:pPr>
            <a:r>
              <a:rPr lang="en-US" sz="525" b="1" dirty="0">
                <a:solidFill>
                  <a:srgbClr val="E5E5E5">
                    <a:alpha val="99000"/>
                  </a:srgbClr>
                </a:solidFill>
                <a:latin typeface="Titillium Web" pitchFamily="34" charset="0"/>
                <a:ea typeface="Titillium Web" pitchFamily="34" charset="-122"/>
                <a:cs typeface="Titillium Web" pitchFamily="34" charset="-120"/>
              </a:rPr>
              <a:t>$ 1.96 M</a:t>
            </a:r>
            <a:endParaRPr lang="en-US" sz="525" dirty="0"/>
          </a:p>
        </p:txBody>
      </p:sp>
      <p:sp>
        <p:nvSpPr>
          <p:cNvPr id="149" name="Text 132"/>
          <p:cNvSpPr/>
          <p:nvPr/>
        </p:nvSpPr>
        <p:spPr>
          <a:xfrm>
            <a:off x="3122486" y="990600"/>
            <a:ext cx="1195387" cy="176213"/>
          </a:xfrm>
          <a:prstGeom prst="rect">
            <a:avLst/>
          </a:prstGeom>
          <a:noFill/>
          <a:ln/>
        </p:spPr>
        <p:txBody>
          <a:bodyPr wrap="square" rtlCol="0" anchor="ctr"/>
          <a:lstStyle/>
          <a:p>
            <a:pPr marL="0" indent="0" algn="l">
              <a:lnSpc>
                <a:spcPts val="1369"/>
              </a:lnSpc>
              <a:buNone/>
            </a:pPr>
            <a:r>
              <a:rPr lang="en-US" sz="900" b="1" dirty="0">
                <a:solidFill>
                  <a:srgbClr val="FFFFFF">
                    <a:alpha val="99000"/>
                  </a:srgbClr>
                </a:solidFill>
                <a:latin typeface="Titillium Web" pitchFamily="34" charset="0"/>
                <a:ea typeface="Titillium Web" pitchFamily="34" charset="-122"/>
                <a:cs typeface="Titillium Web" pitchFamily="34" charset="-120"/>
              </a:rPr>
              <a:t>Business Value</a:t>
            </a:r>
            <a:endParaRPr lang="en-US" sz="900" dirty="0"/>
          </a:p>
        </p:txBody>
      </p:sp>
      <p:sp>
        <p:nvSpPr>
          <p:cNvPr id="150" name="Text 133"/>
          <p:cNvSpPr/>
          <p:nvPr/>
        </p:nvSpPr>
        <p:spPr>
          <a:xfrm>
            <a:off x="6141911" y="990600"/>
            <a:ext cx="1219200" cy="176213"/>
          </a:xfrm>
          <a:prstGeom prst="rect">
            <a:avLst/>
          </a:prstGeom>
          <a:noFill/>
          <a:ln/>
        </p:spPr>
        <p:txBody>
          <a:bodyPr wrap="square" rtlCol="0" anchor="ctr"/>
          <a:lstStyle/>
          <a:p>
            <a:pPr marL="0" indent="0" algn="l">
              <a:lnSpc>
                <a:spcPts val="1369"/>
              </a:lnSpc>
              <a:buNone/>
            </a:pPr>
            <a:r>
              <a:rPr lang="en-US" sz="900" b="1" dirty="0">
                <a:solidFill>
                  <a:srgbClr val="FFFFFF">
                    <a:alpha val="99000"/>
                  </a:srgbClr>
                </a:solidFill>
                <a:latin typeface="Titillium Web" pitchFamily="34" charset="0"/>
                <a:ea typeface="Titillium Web" pitchFamily="34" charset="-122"/>
                <a:cs typeface="Titillium Web" pitchFamily="34" charset="-120"/>
              </a:rPr>
              <a:t>Path to Savings</a:t>
            </a:r>
            <a:endParaRPr lang="en-US" sz="900" dirty="0"/>
          </a:p>
        </p:txBody>
      </p:sp>
      <p:sp>
        <p:nvSpPr>
          <p:cNvPr id="151" name="Text 134"/>
          <p:cNvSpPr/>
          <p:nvPr/>
        </p:nvSpPr>
        <p:spPr>
          <a:xfrm>
            <a:off x="6109145" y="1333500"/>
            <a:ext cx="752475" cy="128588"/>
          </a:xfrm>
          <a:prstGeom prst="rect">
            <a:avLst/>
          </a:prstGeom>
          <a:noFill/>
          <a:ln/>
        </p:spPr>
        <p:txBody>
          <a:bodyPr wrap="square" rtlCol="0" anchor="ctr"/>
          <a:lstStyle/>
          <a:p>
            <a:pPr marL="0" indent="0" algn="ctr">
              <a:lnSpc>
                <a:spcPts val="1027"/>
              </a:lnSpc>
              <a:buNone/>
            </a:pPr>
            <a:r>
              <a:rPr lang="en-US" sz="675" b="1" dirty="0">
                <a:solidFill>
                  <a:srgbClr val="FFFFFF">
                    <a:alpha val="99000"/>
                  </a:srgbClr>
                </a:solidFill>
                <a:latin typeface="Titillium Web" pitchFamily="34" charset="0"/>
                <a:ea typeface="Titillium Web" pitchFamily="34" charset="-122"/>
                <a:cs typeface="Titillium Web" pitchFamily="34" charset="-120"/>
              </a:rPr>
              <a:t>Optimal</a:t>
            </a:r>
            <a:endParaRPr lang="en-US" sz="675" dirty="0"/>
          </a:p>
        </p:txBody>
      </p:sp>
      <p:sp>
        <p:nvSpPr>
          <p:cNvPr id="152" name="Text 135"/>
          <p:cNvSpPr/>
          <p:nvPr/>
        </p:nvSpPr>
        <p:spPr>
          <a:xfrm>
            <a:off x="7689533" y="1793081"/>
            <a:ext cx="785813"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Perf. Uplift : </a:t>
            </a:r>
            <a:endParaRPr lang="en-US" sz="525" dirty="0"/>
          </a:p>
        </p:txBody>
      </p:sp>
      <p:sp>
        <p:nvSpPr>
          <p:cNvPr id="153" name="Text 136"/>
          <p:cNvSpPr/>
          <p:nvPr/>
        </p:nvSpPr>
        <p:spPr>
          <a:xfrm>
            <a:off x="8065770" y="1793081"/>
            <a:ext cx="638175" cy="100013"/>
          </a:xfrm>
          <a:prstGeom prst="rect">
            <a:avLst/>
          </a:prstGeom>
          <a:noFill/>
          <a:ln/>
        </p:spPr>
        <p:txBody>
          <a:bodyPr wrap="square" rtlCol="0" anchor="ctr"/>
          <a:lstStyle/>
          <a:p>
            <a:pPr algn="ctr">
              <a:lnSpc>
                <a:spcPts val="799"/>
              </a:lnSpc>
            </a:pPr>
            <a:r>
              <a:rPr lang="en-US" sz="525" dirty="0">
                <a:solidFill>
                  <a:srgbClr val="FFFFFF">
                    <a:alpha val="99000"/>
                  </a:srgbClr>
                </a:solidFill>
                <a:latin typeface="Titillium Web" pitchFamily="34" charset="0"/>
                <a:ea typeface="Titillium Web" pitchFamily="34" charset="-122"/>
                <a:cs typeface="Titillium Web" pitchFamily="34" charset="-120"/>
              </a:rPr>
              <a:t>&lt;3op&gt;</a:t>
            </a:r>
            <a:endParaRPr lang="en-US" sz="525" dirty="0"/>
          </a:p>
        </p:txBody>
      </p:sp>
      <p:sp>
        <p:nvSpPr>
          <p:cNvPr id="154" name="Text 137"/>
          <p:cNvSpPr/>
          <p:nvPr/>
        </p:nvSpPr>
        <p:spPr>
          <a:xfrm>
            <a:off x="6603683" y="1793081"/>
            <a:ext cx="914400"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Saved Annually : </a:t>
            </a:r>
            <a:endParaRPr lang="en-US" sz="525" dirty="0"/>
          </a:p>
        </p:txBody>
      </p:sp>
      <p:sp>
        <p:nvSpPr>
          <p:cNvPr id="155" name="Text 138"/>
          <p:cNvSpPr/>
          <p:nvPr/>
        </p:nvSpPr>
        <p:spPr>
          <a:xfrm>
            <a:off x="7108508" y="1793081"/>
            <a:ext cx="714375" cy="100013"/>
          </a:xfrm>
          <a:prstGeom prst="rect">
            <a:avLst/>
          </a:prstGeom>
          <a:noFill/>
          <a:ln/>
        </p:spPr>
        <p:txBody>
          <a:bodyPr wrap="square" rtlCol="0" anchor="ctr"/>
          <a:lstStyle/>
          <a:p>
            <a:pPr algn="ctr">
              <a:lnSpc>
                <a:spcPts val="799"/>
              </a:lnSpc>
            </a:pPr>
            <a:r>
              <a:rPr lang="en-US" sz="525" dirty="0">
                <a:solidFill>
                  <a:srgbClr val="FFFFFF">
                    <a:alpha val="99000"/>
                  </a:srgbClr>
                </a:solidFill>
                <a:latin typeface="Titillium Web" pitchFamily="34" charset="0"/>
                <a:ea typeface="Titillium Web" pitchFamily="34" charset="-122"/>
                <a:cs typeface="Titillium Web" pitchFamily="34" charset="-120"/>
              </a:rPr>
              <a:t>&lt;3os&gt;</a:t>
            </a:r>
            <a:endParaRPr lang="en-US" sz="525" dirty="0"/>
          </a:p>
        </p:txBody>
      </p:sp>
      <p:sp>
        <p:nvSpPr>
          <p:cNvPr id="156" name="Text 139"/>
          <p:cNvSpPr/>
          <p:nvPr/>
        </p:nvSpPr>
        <p:spPr>
          <a:xfrm>
            <a:off x="7256145" y="1519238"/>
            <a:ext cx="519113"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to</a:t>
            </a:r>
            <a:endParaRPr lang="en-US" sz="525" dirty="0"/>
          </a:p>
        </p:txBody>
      </p:sp>
      <p:sp>
        <p:nvSpPr>
          <p:cNvPr id="157" name="Text 140"/>
          <p:cNvSpPr/>
          <p:nvPr/>
        </p:nvSpPr>
        <p:spPr>
          <a:xfrm>
            <a:off x="7432358" y="1519238"/>
            <a:ext cx="995362"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Optimal Instances :</a:t>
            </a:r>
            <a:endParaRPr lang="en-US" sz="525" dirty="0"/>
          </a:p>
        </p:txBody>
      </p:sp>
      <p:sp>
        <p:nvSpPr>
          <p:cNvPr id="158" name="Text 141"/>
          <p:cNvSpPr/>
          <p:nvPr/>
        </p:nvSpPr>
        <p:spPr>
          <a:xfrm>
            <a:off x="8093869" y="1519238"/>
            <a:ext cx="848178"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rPr>
              <a:t>ph2</a:t>
            </a:r>
            <a:endParaRPr lang="en-US" sz="525" dirty="0"/>
          </a:p>
        </p:txBody>
      </p:sp>
      <p:sp>
        <p:nvSpPr>
          <p:cNvPr id="159" name="Text 142"/>
          <p:cNvSpPr/>
          <p:nvPr/>
        </p:nvSpPr>
        <p:spPr>
          <a:xfrm>
            <a:off x="6188870" y="1519238"/>
            <a:ext cx="812006"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Current Instances :</a:t>
            </a:r>
            <a:endParaRPr lang="en-US" sz="525" dirty="0"/>
          </a:p>
        </p:txBody>
      </p:sp>
      <p:sp>
        <p:nvSpPr>
          <p:cNvPr id="160" name="Text 143"/>
          <p:cNvSpPr/>
          <p:nvPr/>
        </p:nvSpPr>
        <p:spPr>
          <a:xfrm>
            <a:off x="6743700" y="1519238"/>
            <a:ext cx="855345"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ph1</a:t>
            </a:r>
            <a:endParaRPr lang="en-US" sz="525" dirty="0"/>
          </a:p>
        </p:txBody>
      </p:sp>
      <p:sp>
        <p:nvSpPr>
          <p:cNvPr id="161" name="Text 144"/>
          <p:cNvSpPr/>
          <p:nvPr/>
        </p:nvSpPr>
        <p:spPr>
          <a:xfrm>
            <a:off x="6109145" y="2124075"/>
            <a:ext cx="647700" cy="128588"/>
          </a:xfrm>
          <a:prstGeom prst="rect">
            <a:avLst/>
          </a:prstGeom>
          <a:noFill/>
          <a:ln/>
        </p:spPr>
        <p:txBody>
          <a:bodyPr wrap="square" rtlCol="0" anchor="ctr"/>
          <a:lstStyle/>
          <a:p>
            <a:pPr marL="0" indent="0" algn="ctr">
              <a:lnSpc>
                <a:spcPts val="1027"/>
              </a:lnSpc>
              <a:buNone/>
            </a:pPr>
            <a:r>
              <a:rPr lang="en-US" sz="675" b="1" dirty="0">
                <a:solidFill>
                  <a:srgbClr val="FFFFFF">
                    <a:alpha val="99000"/>
                  </a:srgbClr>
                </a:solidFill>
                <a:latin typeface="Titillium Web" pitchFamily="34" charset="0"/>
                <a:ea typeface="Titillium Web" pitchFamily="34" charset="-122"/>
                <a:cs typeface="Titillium Web" pitchFamily="34" charset="-120"/>
              </a:rPr>
              <a:t>Good</a:t>
            </a:r>
            <a:endParaRPr lang="en-US" sz="675" dirty="0"/>
          </a:p>
        </p:txBody>
      </p:sp>
      <p:sp>
        <p:nvSpPr>
          <p:cNvPr id="162" name="Text 145"/>
          <p:cNvSpPr/>
          <p:nvPr/>
        </p:nvSpPr>
        <p:spPr>
          <a:xfrm>
            <a:off x="7689533" y="2583656"/>
            <a:ext cx="785813"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Perf. Uplift : </a:t>
            </a:r>
            <a:endParaRPr lang="en-US" sz="525" dirty="0"/>
          </a:p>
        </p:txBody>
      </p:sp>
      <p:sp>
        <p:nvSpPr>
          <p:cNvPr id="163" name="Text 146"/>
          <p:cNvSpPr/>
          <p:nvPr/>
        </p:nvSpPr>
        <p:spPr>
          <a:xfrm>
            <a:off x="8065770" y="2583656"/>
            <a:ext cx="638175" cy="100013"/>
          </a:xfrm>
          <a:prstGeom prst="rect">
            <a:avLst/>
          </a:prstGeom>
          <a:noFill/>
          <a:ln/>
        </p:spPr>
        <p:txBody>
          <a:bodyPr wrap="square" rtlCol="0" anchor="ctr"/>
          <a:lstStyle/>
          <a:p>
            <a:pPr algn="ctr">
              <a:lnSpc>
                <a:spcPts val="799"/>
              </a:lnSpc>
            </a:pPr>
            <a:r>
              <a:rPr lang="en-US" sz="525">
                <a:solidFill>
                  <a:srgbClr val="FFFFFF">
                    <a:alpha val="99000"/>
                  </a:srgbClr>
                </a:solidFill>
                <a:latin typeface="Titillium Web" pitchFamily="34" charset="0"/>
                <a:ea typeface="Titillium Web" pitchFamily="34" charset="-122"/>
                <a:cs typeface="Titillium Web" pitchFamily="34" charset="-120"/>
              </a:rPr>
              <a:t>&lt;3gp&gt;</a:t>
            </a:r>
            <a:endParaRPr lang="en-US" sz="525" dirty="0"/>
          </a:p>
        </p:txBody>
      </p:sp>
      <p:sp>
        <p:nvSpPr>
          <p:cNvPr id="164" name="Text 147"/>
          <p:cNvSpPr/>
          <p:nvPr/>
        </p:nvSpPr>
        <p:spPr>
          <a:xfrm>
            <a:off x="6603683" y="2583656"/>
            <a:ext cx="914400"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Saved Annually : </a:t>
            </a:r>
            <a:endParaRPr lang="en-US" sz="525" dirty="0"/>
          </a:p>
        </p:txBody>
      </p:sp>
      <p:sp>
        <p:nvSpPr>
          <p:cNvPr id="165" name="Text 148"/>
          <p:cNvSpPr/>
          <p:nvPr/>
        </p:nvSpPr>
        <p:spPr>
          <a:xfrm>
            <a:off x="7108508" y="2583656"/>
            <a:ext cx="714375" cy="100013"/>
          </a:xfrm>
          <a:prstGeom prst="rect">
            <a:avLst/>
          </a:prstGeom>
          <a:noFill/>
          <a:ln/>
        </p:spPr>
        <p:txBody>
          <a:bodyPr wrap="square" rtlCol="0" anchor="ctr"/>
          <a:lstStyle/>
          <a:p>
            <a:pPr algn="ctr">
              <a:lnSpc>
                <a:spcPts val="799"/>
              </a:lnSpc>
            </a:pPr>
            <a:r>
              <a:rPr lang="en-US" sz="525" dirty="0">
                <a:solidFill>
                  <a:srgbClr val="FFFFFF">
                    <a:alpha val="99000"/>
                  </a:srgbClr>
                </a:solidFill>
                <a:latin typeface="Titillium Web" pitchFamily="34" charset="0"/>
                <a:ea typeface="Titillium Web" pitchFamily="34" charset="-122"/>
                <a:cs typeface="Titillium Web" pitchFamily="34" charset="-120"/>
              </a:rPr>
              <a:t>&lt;3gs&gt;</a:t>
            </a:r>
            <a:endParaRPr lang="en-US" sz="525" dirty="0"/>
          </a:p>
        </p:txBody>
      </p:sp>
      <p:sp>
        <p:nvSpPr>
          <p:cNvPr id="166" name="Text 149"/>
          <p:cNvSpPr/>
          <p:nvPr/>
        </p:nvSpPr>
        <p:spPr>
          <a:xfrm>
            <a:off x="7256145" y="2309813"/>
            <a:ext cx="519113"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to</a:t>
            </a:r>
            <a:endParaRPr lang="en-US" sz="525" dirty="0"/>
          </a:p>
        </p:txBody>
      </p:sp>
      <p:sp>
        <p:nvSpPr>
          <p:cNvPr id="167" name="Text 150"/>
          <p:cNvSpPr/>
          <p:nvPr/>
        </p:nvSpPr>
        <p:spPr>
          <a:xfrm>
            <a:off x="7432358" y="2309813"/>
            <a:ext cx="995362"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Good Instances :</a:t>
            </a:r>
            <a:endParaRPr lang="en-US" sz="525" dirty="0"/>
          </a:p>
        </p:txBody>
      </p:sp>
      <p:sp>
        <p:nvSpPr>
          <p:cNvPr id="168" name="Text 151"/>
          <p:cNvSpPr/>
          <p:nvPr/>
        </p:nvSpPr>
        <p:spPr>
          <a:xfrm>
            <a:off x="8065769" y="2309813"/>
            <a:ext cx="876277"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rPr>
              <a:t>ph3</a:t>
            </a:r>
            <a:endParaRPr lang="en-US" sz="525" dirty="0"/>
          </a:p>
        </p:txBody>
      </p:sp>
      <p:sp>
        <p:nvSpPr>
          <p:cNvPr id="169" name="Text 152"/>
          <p:cNvSpPr/>
          <p:nvPr/>
        </p:nvSpPr>
        <p:spPr>
          <a:xfrm>
            <a:off x="6119812" y="2309813"/>
            <a:ext cx="938213"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Current Instances :</a:t>
            </a:r>
            <a:endParaRPr lang="en-US" sz="525" dirty="0"/>
          </a:p>
        </p:txBody>
      </p:sp>
      <p:sp>
        <p:nvSpPr>
          <p:cNvPr id="170" name="Text 153"/>
          <p:cNvSpPr/>
          <p:nvPr/>
        </p:nvSpPr>
        <p:spPr>
          <a:xfrm>
            <a:off x="6743700" y="2309813"/>
            <a:ext cx="855345" cy="100013"/>
          </a:xfrm>
          <a:prstGeom prst="rect">
            <a:avLst/>
          </a:prstGeom>
          <a:noFill/>
          <a:ln/>
        </p:spPr>
        <p:txBody>
          <a:bodyPr wrap="square" rtlCol="0" anchor="ctr"/>
          <a:lstStyle/>
          <a:p>
            <a:pPr marL="0" indent="0" algn="ctr">
              <a:lnSpc>
                <a:spcPts val="799"/>
              </a:lnSpc>
              <a:buNone/>
            </a:pPr>
            <a:r>
              <a:rPr lang="en-US" sz="525" dirty="0">
                <a:solidFill>
                  <a:srgbClr val="FFFFFF">
                    <a:alpha val="99000"/>
                  </a:srgbClr>
                </a:solidFill>
                <a:latin typeface="Titillium Web" pitchFamily="34" charset="0"/>
                <a:ea typeface="Titillium Web" pitchFamily="34" charset="-122"/>
                <a:cs typeface="Titillium Web" pitchFamily="34" charset="-120"/>
              </a:rPr>
              <a:t>ph1</a:t>
            </a:r>
            <a:endParaRPr lang="en-US" sz="525" dirty="0"/>
          </a:p>
        </p:txBody>
      </p:sp>
      <p:sp>
        <p:nvSpPr>
          <p:cNvPr id="171" name="Text 154"/>
          <p:cNvSpPr/>
          <p:nvPr/>
        </p:nvSpPr>
        <p:spPr>
          <a:xfrm>
            <a:off x="1752124" y="1975287"/>
            <a:ext cx="957263" cy="128588"/>
          </a:xfrm>
          <a:prstGeom prst="rect">
            <a:avLst/>
          </a:prstGeom>
          <a:noFill/>
          <a:ln/>
        </p:spPr>
        <p:txBody>
          <a:bodyPr wrap="square" rtlCol="0" anchor="ctr"/>
          <a:lstStyle/>
          <a:p>
            <a:pPr marL="0" indent="0" algn="ctr">
              <a:lnSpc>
                <a:spcPts val="1027"/>
              </a:lnSpc>
              <a:buNone/>
            </a:pPr>
            <a:r>
              <a:rPr lang="en-US" sz="675" dirty="0">
                <a:solidFill>
                  <a:srgbClr val="FFFFFF">
                    <a:alpha val="99000"/>
                  </a:srgbClr>
                </a:solidFill>
                <a:latin typeface="Titillium Web" pitchFamily="34" charset="0"/>
                <a:ea typeface="Titillium Web" pitchFamily="34" charset="-122"/>
                <a:cs typeface="Titillium Web" pitchFamily="34" charset="-120"/>
              </a:rPr>
              <a:t>Annual Spend</a:t>
            </a:r>
            <a:endParaRPr lang="en-US" sz="675" dirty="0"/>
          </a:p>
        </p:txBody>
      </p:sp>
      <p:sp>
        <p:nvSpPr>
          <p:cNvPr id="172" name="Text 155"/>
          <p:cNvSpPr/>
          <p:nvPr/>
        </p:nvSpPr>
        <p:spPr>
          <a:xfrm>
            <a:off x="1828324" y="1801376"/>
            <a:ext cx="804862" cy="176213"/>
          </a:xfrm>
          <a:prstGeom prst="rect">
            <a:avLst/>
          </a:prstGeom>
          <a:noFill/>
          <a:ln/>
        </p:spPr>
        <p:txBody>
          <a:bodyPr wrap="square" rtlCol="0" anchor="ctr"/>
          <a:lstStyle/>
          <a:p>
            <a:pPr algn="ctr">
              <a:lnSpc>
                <a:spcPts val="1369"/>
              </a:lnSpc>
            </a:pPr>
            <a:r>
              <a:rPr lang="en-US" sz="900" b="1" dirty="0">
                <a:solidFill>
                  <a:srgbClr val="00C2DE">
                    <a:alpha val="99000"/>
                  </a:srgbClr>
                </a:solidFill>
                <a:latin typeface="Titillium Web" pitchFamily="34" charset="0"/>
              </a:rPr>
              <a:t>&lt;3bF&gt;</a:t>
            </a:r>
            <a:endParaRPr lang="en-US" sz="900" dirty="0"/>
          </a:p>
        </p:txBody>
      </p:sp>
      <p:sp>
        <p:nvSpPr>
          <p:cNvPr id="173" name="Text 156"/>
          <p:cNvSpPr/>
          <p:nvPr/>
        </p:nvSpPr>
        <p:spPr>
          <a:xfrm>
            <a:off x="368618" y="1975287"/>
            <a:ext cx="1152525" cy="128588"/>
          </a:xfrm>
          <a:prstGeom prst="rect">
            <a:avLst/>
          </a:prstGeom>
          <a:noFill/>
          <a:ln/>
        </p:spPr>
        <p:txBody>
          <a:bodyPr wrap="square" rtlCol="0" anchor="ctr"/>
          <a:lstStyle/>
          <a:p>
            <a:pPr marL="0" indent="0" algn="ctr">
              <a:lnSpc>
                <a:spcPts val="1027"/>
              </a:lnSpc>
              <a:buNone/>
            </a:pPr>
            <a:r>
              <a:rPr lang="en-US" sz="675" dirty="0">
                <a:solidFill>
                  <a:srgbClr val="FFFFFF">
                    <a:alpha val="99000"/>
                  </a:srgbClr>
                </a:solidFill>
                <a:latin typeface="Titillium Web" pitchFamily="34" charset="0"/>
                <a:ea typeface="Titillium Web" pitchFamily="34" charset="-122"/>
                <a:cs typeface="Titillium Web" pitchFamily="34" charset="-120"/>
              </a:rPr>
              <a:t>Instances Analyzed</a:t>
            </a:r>
            <a:endParaRPr lang="en-US" sz="675" dirty="0"/>
          </a:p>
        </p:txBody>
      </p:sp>
      <p:sp>
        <p:nvSpPr>
          <p:cNvPr id="174" name="Text 157"/>
          <p:cNvSpPr/>
          <p:nvPr/>
        </p:nvSpPr>
        <p:spPr>
          <a:xfrm>
            <a:off x="654368" y="1801376"/>
            <a:ext cx="585788" cy="176213"/>
          </a:xfrm>
          <a:prstGeom prst="rect">
            <a:avLst/>
          </a:prstGeom>
          <a:noFill/>
          <a:ln/>
        </p:spPr>
        <p:txBody>
          <a:bodyPr wrap="square" rtlCol="0" anchor="ctr"/>
          <a:lstStyle/>
          <a:p>
            <a:pPr algn="ctr">
              <a:lnSpc>
                <a:spcPts val="1369"/>
              </a:lnSpc>
            </a:pPr>
            <a:r>
              <a:rPr lang="en-US" sz="900" b="1" dirty="0">
                <a:solidFill>
                  <a:srgbClr val="00C2DE">
                    <a:alpha val="99000"/>
                  </a:srgbClr>
                </a:solidFill>
                <a:latin typeface="Titillium Web" pitchFamily="34" charset="0"/>
              </a:rPr>
              <a:t>&lt;3a&gt;</a:t>
            </a:r>
            <a:endParaRPr lang="en-US" sz="900" dirty="0"/>
          </a:p>
        </p:txBody>
      </p:sp>
      <p:sp>
        <p:nvSpPr>
          <p:cNvPr id="175" name="Text 158"/>
          <p:cNvSpPr/>
          <p:nvPr/>
        </p:nvSpPr>
        <p:spPr>
          <a:xfrm>
            <a:off x="371475" y="2495550"/>
            <a:ext cx="2352675" cy="128588"/>
          </a:xfrm>
          <a:prstGeom prst="rect">
            <a:avLst/>
          </a:prstGeom>
          <a:noFill/>
          <a:ln/>
        </p:spPr>
        <p:txBody>
          <a:bodyPr wrap="square" rtlCol="0" anchor="ctr"/>
          <a:lstStyle/>
          <a:p>
            <a:pPr marL="0" indent="0" algn="l">
              <a:lnSpc>
                <a:spcPts val="1027"/>
              </a:lnSpc>
              <a:buNone/>
            </a:pPr>
            <a:r>
              <a:rPr lang="en-US" sz="675" b="1" dirty="0">
                <a:solidFill>
                  <a:srgbClr val="FFFFFF">
                    <a:alpha val="99000"/>
                  </a:srgbClr>
                </a:solidFill>
                <a:latin typeface="Titillium Web" pitchFamily="34" charset="0"/>
                <a:ea typeface="Titillium Web" pitchFamily="34" charset="-122"/>
                <a:cs typeface="Titillium Web" pitchFamily="34" charset="-120"/>
              </a:rPr>
              <a:t>Summary : Current infrastructure across [1] regions</a:t>
            </a:r>
            <a:endParaRPr lang="en-US" sz="6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265efc6-e181-49d6-80f4-fae95cf838a0}" enabled="1" method="Privileged" siteId="{3dd8961f-e488-4e60-8e11-a82d994e183d}" contentBits="1" removed="0"/>
</clbl:labelList>
</file>

<file path=docProps/app.xml><?xml version="1.0" encoding="utf-8"?>
<Properties xmlns="http://schemas.openxmlformats.org/officeDocument/2006/extended-properties" xmlns:vt="http://schemas.openxmlformats.org/officeDocument/2006/docPropsVTypes">
  <TotalTime>26</TotalTime>
  <Words>482</Words>
  <Application>Microsoft Office PowerPoint</Application>
  <PresentationFormat>On-screen Show (16:9)</PresentationFormat>
  <Paragraphs>99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Open Sans</vt:lpstr>
      <vt:lpstr>Titillium Web</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Muhammed Swalih C</cp:lastModifiedBy>
  <cp:revision>8</cp:revision>
  <dcterms:created xsi:type="dcterms:W3CDTF">2026-01-02T06:21:55Z</dcterms:created>
  <dcterms:modified xsi:type="dcterms:W3CDTF">2026-02-25T12:13:43Z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Theme:3</vt:lpwstr>
  </property>
  <property fmtid="{D5CDD505-2E9C-101B-9397-08002B2CF9AE}" pid="3" name="ClassificationContentMarkingHeaderText">
    <vt:lpwstr>[Public]</vt:lpwstr>
  </property>
</Properties>
</file>